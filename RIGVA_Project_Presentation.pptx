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81e49a0-a224-9556-4828-5b035ae1a391}">
          <p14:sldIdLst>
            <p14:sldId id="256"/>
            <p14:sldId id="257"/>
          </p14:sldIdLst>
        </p14:section>
        <p14:section name="1. Business and Requirements" id="{095eefd6-504d-cc6c-54c0-7a7a8980537f}">
          <p14:sldIdLst>
            <p14:sldId id="258"/>
            <p14:sldId id="259"/>
            <p14:sldId id="260"/>
          </p14:sldIdLst>
        </p14:section>
        <p14:section name="2. Architecture and Microservices" id="{19d7e3a5-c918-10c8-d955-b3878aa66148}">
          <p14:sldIdLst>
            <p14:sldId id="261"/>
            <p14:sldId id="262"/>
          </p14:sldIdLst>
        </p14:section>
        <p14:section name="3. Frontend - Angular" id="{6663216b-32e9-5080-90e3-c0c49c288ab3}">
          <p14:sldIdLst>
            <p14:sldId id="263"/>
            <p14:sldId id="264"/>
          </p14:sldIdLst>
        </p14:section>
        <p14:section name="4. Backend - Spring Boot" id="{19e03681-f189-1bc4-643c-1d72b3bb4368}">
          <p14:sldIdLst>
            <p14:sldId id="265"/>
            <p14:sldId id="266"/>
          </p14:sldIdLst>
        </p14:section>
        <p14:section name="5. Security, Observability and Database" id="{2d56ecdb-ac12-ee8b-8e19-a25e49524cd7}">
          <p14:sldIdLst>
            <p14:sldId id="267"/>
            <p14:sldId id="268"/>
            <p14:sldId id="269"/>
            <p14:sldId id="270"/>
          </p14:sldIdLst>
        </p14:section>
        <p14:section name="6. Testing and Quality" id="{06af7e9d-35d4-3faf-ff43-ad3702d734ce}">
          <p14:sldIdLst>
            <p14:sldId id="271"/>
            <p14:sldId id="272"/>
          </p14:sldIdLst>
        </p14:section>
        <p14:section name="7. Demo, Journey and Conclusion" id="{842e1d43-b870-c330-7db2-b22e159dbe32}">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RIGVA: a microservices system covering the insurance lifecycle for construction equipment - quotation, underwriting, policy, endorsement, claims, billing and renewal. All figures in this deck come from the supplied source, SQL script and technical report; no runtime or test results were supplied, so none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topics, following the project review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document: insuring each machine separately is costly. A master policy lists each machine with serial number, value, sum insured, site, coverage and deductible. The code supports these objectives through five business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come from the UserRole enum in the Auth service and @PreAuthorize annotations on controllers. Registration always creates CUSTOMER accounts; staff accounts are created by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vocabulary from the technical report: Implemented, Partial, Missing, Inconsistent, Unverified. None of the implemented items has been verified by execution, since no build or run evidence was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classification: separate deployable Spring applications, a database per service, a gateway module, a Eureka registry module and HTTP calls between services. Gateway routing configuration was not supplied, so the forwarding step is inferred from the security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Calls documented in code: Claims to Equipment, Underwriting and Billing; Underwriting to Billing and Equipment; Auth to notification. Internal endpoints use /internal/v1; the gateway denies /internal/** from outside. No Retry, CircuitBreaker or timeout operators were found in the backend (the Angular client does have a request-timeout interceptor).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462 TypeScript/HTML/CSS files under src/app. Feature counts from the dump: customer 99, admin 36, policy-officer 21, underwriting 15, auth 11, claims-officer 9. The core folder holds API clients (20), guards, interceptors and models mirroring backend DTOs. State uses facade classes with Angular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Routes come from app.routes.ts and the feature route files. Paths under /app are protected by authGuard and password-change guards; roleRedirectGuard sends each user to their dashboard. API paths come from a runtime JSON config (config.api.endpoints.*), so path mapping cannot be verified without that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modules, each a separate Spring application under org.example. The stack is reactive: Mono/Flux return types, WebFlux security, Spring Data R2DBC repositories (no JPA/Hibernate found). Rule classes hold business logic such as PremiumCalculationRule and SettlementCalculationRule.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from controller annotations: 102 handlers (54 GET, 33 POST, 14 PATCH, 1 PUT). 77 have role restrictions via @PreAuthorize, 15 need authentication only and 10 rely on service security rules (Auth and internal endpoints). Catalogue is derived from source, not from a running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HS256 token types (ACCESS, REFRESH) with claims iss, sub, iat, exp, userId, role, tokenType, mustChangePassword and optional companyId. BCrypt password hashing; passwords 8-72 characters. Role claim becomes ROLE_&lt;role&gt; authority; reactive method security is enabled in the four business services. CSRF is disabled (bearer tokens, no cookies).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Findings are from reading the supplied code; none has been reproduced by testing. SEC-01 is the most serious confirmed gap: invoice and payment reads have no company ownership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script creates five MySQL 8 databases (InnoDB, utf8mb4). 15 foreign keys (all within one database), 20 unique constraints, 39 CHECK constraints, 64 named indexes. Money is DECIMAL(15,2); 13 JSON columns. policy_equipment stores snapshot columns so issued policies stay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follows the technical report: a dependency alone is not evidence of monitoring. Correlation ID is created or read by filters in the gateway and five services, but it is not placed in the logging context, so log lines do not carry it. Health, info and metrics actuator paths are permitted in gateway security rules; dashboards and metrics configuration were not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 backend test files with 228 @Test annotations plus one frontend spec file. Counts show methods written, not executed or passing. No coverage report was supplied, so no percentage is stated. Recommended next step: JaCoCo for Java modules and ng test with coverage for Angular.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happens in frontend forms and guards, Bean Validation on request DTOs, service and rule classes (BusinessRuleException), database CHECK and unique constraints, and global exception handlers. Exception-to-HTTP mapping was not traced for every service, and the end-to-end frontend error display is unverified.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Journeys are taken from controller annotations and enumerated statuses (technical report Table 8). Use this slide as the demo script: register, create company and equipment, quote, underwriting decision, policy and invoice, then FNOL through settlement. The sequence is inferred from the domain workflow; it was not traced through frontend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Implemented items are from the code review. Limitations and future work come from the report discrepancy register and roadmap; they are proposals, not delivered features. No performance metrics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achievements and the honest gaps. Invite questions on architecture, security findings or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chemeClr val="tx2"/>
          </a:solidFill>
          <a:ln/>
        </p:spPr>
      </p:sp>
      <p:sp>
        <p:nvSpPr>
          <p:cNvPr id="3" name="Shape 1"/>
          <p:cNvSpPr/>
          <p:nvPr/>
        </p:nvSpPr>
        <p:spPr>
          <a:xfrm>
            <a:off x="457200" y="4773168"/>
            <a:ext cx="8229600" cy="0"/>
          </a:xfrm>
          <a:prstGeom prst="line">
            <a:avLst/>
          </a:prstGeom>
          <a:noFill/>
          <a:ln w="9525">
            <a:solidFill>
              <a:schemeClr val="accent6"/>
            </a:solidFill>
            <a:prstDash val="solid"/>
          </a:ln>
        </p:spPr>
      </p:sp>
      <p:sp>
        <p:nvSpPr>
          <p:cNvPr id="4" name="Text 2"/>
          <p:cNvSpPr/>
          <p:nvPr/>
        </p:nvSpPr>
        <p:spPr>
          <a:xfrm>
            <a:off x="457200" y="4828032"/>
            <a:ext cx="4572000" cy="228600"/>
          </a:xfrm>
          <a:prstGeom prst="rect">
            <a:avLst/>
          </a:prstGeom>
          <a:noFill/>
          <a:ln/>
        </p:spPr>
        <p:txBody>
          <a:bodyPr wrap="square" lIns="0" tIns="0" rIns="0" bIns="0" rtlCol="0" anchor="ctr"/>
          <a:lstStyle/>
          <a:p>
            <a:pPr indent="0" marL="0">
              <a:buNone/>
            </a:pPr>
            <a:r>
              <a:rPr lang="en-US" sz="800" dirty="0">
                <a:solidFill>
                  <a:schemeClr val="accent5"/>
                </a:solidFill>
              </a:rPr>
              <a:t>RIGVA  |  Construction Equipment Insurance</a:t>
            </a:r>
            <a:endParaRPr lang="en-US" sz="8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457200" y="2788920"/>
            <a:ext cx="822960" cy="45720"/>
          </a:xfrm>
          <a:prstGeom prst="rect">
            <a:avLst/>
          </a:prstGeom>
          <a:solidFill>
            <a:schemeClr val="accent2"/>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1097280"/>
            <a:ext cx="8229600" cy="457200"/>
          </a:xfrm>
          <a:prstGeom prst="rect">
            <a:avLst/>
          </a:prstGeom>
          <a:noFill/>
          <a:ln/>
        </p:spPr>
        <p:txBody>
          <a:bodyPr wrap="square" lIns="0" tIns="0" rIns="0" bIns="0" rtlCol="0" anchor="ctr"/>
          <a:lstStyle/>
          <a:p>
            <a:pPr indent="0" marL="0">
              <a:buNone/>
            </a:pPr>
            <a:r>
              <a:rPr lang="en-US" sz="1400" b="1" spc="600" kern="0" dirty="0">
                <a:solidFill>
                  <a:schemeClr val="accent2"/>
                </a:solidFill>
              </a:rPr>
              <a:t>RIGVA</a:t>
            </a:r>
            <a:endParaRPr lang="en-US" sz="1400" dirty="0"/>
          </a:p>
        </p:txBody>
      </p:sp>
      <p:sp>
        <p:nvSpPr>
          <p:cNvPr id="3" name="Text 1"/>
          <p:cNvSpPr txBox="1"/>
          <p:nvPr/>
        </p:nvSpPr>
        <p:spPr>
          <a:xfrm>
            <a:off x="457200" y="1554480"/>
            <a:ext cx="8229600" cy="731520"/>
          </a:xfrm>
          <a:prstGeom prst="rect">
            <a:avLst/>
          </a:prstGeom>
          <a:noFill/>
          <a:ln/>
        </p:spPr>
        <p:txBody>
          <a:bodyPr wrap="square" lIns="0" tIns="0" rIns="0" bIns="0" rtlCol="0" anchor="ctr"/>
          <a:lstStyle/>
          <a:p>
            <a:pPr indent="0" marL="0">
              <a:buNone/>
            </a:pPr>
            <a:r>
              <a:rPr lang="en-US" sz="3600" b="1" dirty="0">
                <a:solidFill>
                  <a:schemeClr val="bg1"/>
                </a:solidFill>
                <a:latin typeface="Manrope" pitchFamily="34" charset="0"/>
                <a:ea typeface="Manrope" pitchFamily="34" charset="-122"/>
                <a:cs typeface="Manrope" pitchFamily="34" charset="-120"/>
              </a:rPr>
              <a:t>Construction Equipment Insurance</a:t>
            </a:r>
            <a:endParaRPr lang="en-US" sz="3600" dirty="0"/>
          </a:p>
        </p:txBody>
      </p:sp>
      <p:sp>
        <p:nvSpPr>
          <p:cNvPr id="4" name="Text 2"/>
          <p:cNvSpPr txBox="1"/>
          <p:nvPr/>
        </p:nvSpPr>
        <p:spPr>
          <a:xfrm>
            <a:off x="457200" y="3017520"/>
            <a:ext cx="8229600" cy="365760"/>
          </a:xfrm>
          <a:prstGeom prst="rect">
            <a:avLst/>
          </a:prstGeom>
          <a:noFill/>
          <a:ln/>
        </p:spPr>
        <p:txBody>
          <a:bodyPr wrap="square" lIns="0" tIns="0" rIns="0" bIns="0" rtlCol="0" anchor="ctr"/>
          <a:lstStyle/>
          <a:p>
            <a:pPr indent="0" marL="0">
              <a:buNone/>
            </a:pPr>
            <a:r>
              <a:rPr lang="en-US" sz="1400" dirty="0">
                <a:solidFill>
                  <a:schemeClr val="accent6"/>
                </a:solidFill>
              </a:rPr>
              <a:t>Microservices platform for master-policy insurance of construction machinery</a:t>
            </a:r>
            <a:endParaRPr lang="en-US" sz="1400" dirty="0"/>
          </a:p>
        </p:txBody>
      </p:sp>
      <p:sp>
        <p:nvSpPr>
          <p:cNvPr id="5" name="Text 3"/>
          <p:cNvSpPr txBox="1"/>
          <p:nvPr/>
        </p:nvSpPr>
        <p:spPr>
          <a:xfrm>
            <a:off x="457200" y="4206240"/>
            <a:ext cx="8229600" cy="274320"/>
          </a:xfrm>
          <a:prstGeom prst="rect">
            <a:avLst/>
          </a:prstGeom>
          <a:noFill/>
          <a:ln/>
        </p:spPr>
        <p:txBody>
          <a:bodyPr wrap="square" lIns="0" tIns="0" rIns="0" bIns="0" rtlCol="0" anchor="ctr"/>
          <a:lstStyle/>
          <a:p>
            <a:pPr indent="0" marL="0">
              <a:buNone/>
            </a:pPr>
            <a:r>
              <a:rPr lang="en-US" sz="1100" dirty="0">
                <a:solidFill>
                  <a:schemeClr val="accent6"/>
                </a:solidFill>
              </a:rPr>
              <a:t>Spring Boot (WebFlux)  |  Angular  |  MySQL  |  JWT  |  Project Review</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100" b="1" dirty="0">
                <a:solidFill>
                  <a:schemeClr val="tx2"/>
                </a:solidFill>
                <a:latin typeface="Manrope" pitchFamily="34" charset="0"/>
                <a:ea typeface="Manrope" pitchFamily="34" charset="-122"/>
                <a:cs typeface="Manrope" pitchFamily="34" charset="-120"/>
              </a:rPr>
              <a:t>Agenda</a:t>
            </a:r>
            <a:endParaRPr lang="en-US" sz="2100" dirty="0"/>
          </a:p>
        </p:txBody>
      </p:sp>
      <p:sp>
        <p:nvSpPr>
          <p:cNvPr id="4" name="Shape 1"/>
          <p:cNvSpPr/>
          <p:nvPr/>
        </p:nvSpPr>
        <p:spPr>
          <a:xfrm>
            <a:off x="457200" y="1188720"/>
            <a:ext cx="457200" cy="457200"/>
          </a:xfrm>
          <a:prstGeom prst="ellipse">
            <a:avLst/>
          </a:prstGeom>
          <a:solidFill>
            <a:schemeClr val="tx2"/>
          </a:solidFill>
          <a:ln w="12700">
            <a:solidFill>
              <a:schemeClr val="tx2"/>
            </a:solidFill>
            <a:prstDash val="solid"/>
          </a:ln>
        </p:spPr>
      </p:sp>
      <p:sp>
        <p:nvSpPr>
          <p:cNvPr id="5" name="Text 2"/>
          <p:cNvSpPr txBox="1"/>
          <p:nvPr/>
        </p:nvSpPr>
        <p:spPr>
          <a:xfrm>
            <a:off x="457200" y="11887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1097280" y="1188720"/>
            <a:ext cx="3383280" cy="457200"/>
          </a:xfrm>
          <a:prstGeom prst="rect">
            <a:avLst/>
          </a:prstGeom>
          <a:noFill/>
          <a:ln/>
        </p:spPr>
        <p:txBody>
          <a:bodyPr wrap="square" lIns="0" tIns="0" rIns="0" bIns="0" rtlCol="0" anchor="ctr"/>
          <a:lstStyle/>
          <a:p>
            <a:pPr indent="0" marL="0">
              <a:buNone/>
            </a:pPr>
            <a:r>
              <a:rPr lang="en-US" sz="1400" dirty="0">
                <a:solidFill>
                  <a:schemeClr val="tx1"/>
                </a:solidFill>
              </a:rPr>
              <a:t>Business and Requirements</a:t>
            </a:r>
            <a:endParaRPr lang="en-US" sz="1400" dirty="0"/>
          </a:p>
        </p:txBody>
      </p:sp>
      <p:sp>
        <p:nvSpPr>
          <p:cNvPr id="7" name="Shape 4"/>
          <p:cNvSpPr/>
          <p:nvPr/>
        </p:nvSpPr>
        <p:spPr>
          <a:xfrm>
            <a:off x="457200" y="2011680"/>
            <a:ext cx="457200" cy="457200"/>
          </a:xfrm>
          <a:prstGeom prst="ellipse">
            <a:avLst/>
          </a:prstGeom>
          <a:solidFill>
            <a:schemeClr val="tx2"/>
          </a:solidFill>
          <a:ln w="12700">
            <a:solidFill>
              <a:schemeClr val="tx2"/>
            </a:solidFill>
            <a:prstDash val="solid"/>
          </a:ln>
        </p:spPr>
      </p:sp>
      <p:sp>
        <p:nvSpPr>
          <p:cNvPr id="8" name="Text 5"/>
          <p:cNvSpPr txBox="1"/>
          <p:nvPr/>
        </p:nvSpPr>
        <p:spPr>
          <a:xfrm>
            <a:off x="457200" y="20116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6"/>
          <p:cNvSpPr txBox="1"/>
          <p:nvPr/>
        </p:nvSpPr>
        <p:spPr>
          <a:xfrm>
            <a:off x="1097280" y="2011680"/>
            <a:ext cx="3383280" cy="457200"/>
          </a:xfrm>
          <a:prstGeom prst="rect">
            <a:avLst/>
          </a:prstGeom>
          <a:noFill/>
          <a:ln/>
        </p:spPr>
        <p:txBody>
          <a:bodyPr wrap="square" lIns="0" tIns="0" rIns="0" bIns="0" rtlCol="0" anchor="ctr"/>
          <a:lstStyle/>
          <a:p>
            <a:pPr indent="0" marL="0">
              <a:buNone/>
            </a:pPr>
            <a:r>
              <a:rPr lang="en-US" sz="1400" dirty="0">
                <a:solidFill>
                  <a:schemeClr val="tx1"/>
                </a:solidFill>
              </a:rPr>
              <a:t>Architecture and Microservices</a:t>
            </a:r>
            <a:endParaRPr lang="en-US" sz="1400" dirty="0"/>
          </a:p>
        </p:txBody>
      </p:sp>
      <p:sp>
        <p:nvSpPr>
          <p:cNvPr id="10" name="Shape 7"/>
          <p:cNvSpPr/>
          <p:nvPr/>
        </p:nvSpPr>
        <p:spPr>
          <a:xfrm>
            <a:off x="457200" y="2834640"/>
            <a:ext cx="457200" cy="457200"/>
          </a:xfrm>
          <a:prstGeom prst="ellipse">
            <a:avLst/>
          </a:prstGeom>
          <a:solidFill>
            <a:schemeClr val="tx2"/>
          </a:solidFill>
          <a:ln w="12700">
            <a:solidFill>
              <a:schemeClr val="tx2"/>
            </a:solidFill>
            <a:prstDash val="solid"/>
          </a:ln>
        </p:spPr>
      </p:sp>
      <p:sp>
        <p:nvSpPr>
          <p:cNvPr id="11" name="Text 8"/>
          <p:cNvSpPr txBox="1"/>
          <p:nvPr/>
        </p:nvSpPr>
        <p:spPr>
          <a:xfrm>
            <a:off x="457200" y="28346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ext 9"/>
          <p:cNvSpPr txBox="1"/>
          <p:nvPr/>
        </p:nvSpPr>
        <p:spPr>
          <a:xfrm>
            <a:off x="1097280" y="2834640"/>
            <a:ext cx="3383280" cy="457200"/>
          </a:xfrm>
          <a:prstGeom prst="rect">
            <a:avLst/>
          </a:prstGeom>
          <a:noFill/>
          <a:ln/>
        </p:spPr>
        <p:txBody>
          <a:bodyPr wrap="square" lIns="0" tIns="0" rIns="0" bIns="0" rtlCol="0" anchor="ctr"/>
          <a:lstStyle/>
          <a:p>
            <a:pPr indent="0" marL="0">
              <a:buNone/>
            </a:pPr>
            <a:r>
              <a:rPr lang="en-US" sz="1400" dirty="0">
                <a:solidFill>
                  <a:schemeClr val="tx1"/>
                </a:solidFill>
              </a:rPr>
              <a:t>Frontend - Angular</a:t>
            </a:r>
            <a:endParaRPr lang="en-US" sz="1400" dirty="0"/>
          </a:p>
        </p:txBody>
      </p:sp>
      <p:sp>
        <p:nvSpPr>
          <p:cNvPr id="13" name="Shape 10"/>
          <p:cNvSpPr/>
          <p:nvPr/>
        </p:nvSpPr>
        <p:spPr>
          <a:xfrm>
            <a:off x="457200" y="3657600"/>
            <a:ext cx="457200" cy="457200"/>
          </a:xfrm>
          <a:prstGeom prst="ellipse">
            <a:avLst/>
          </a:prstGeom>
          <a:solidFill>
            <a:schemeClr val="tx2"/>
          </a:solidFill>
          <a:ln w="12700">
            <a:solidFill>
              <a:schemeClr val="tx2"/>
            </a:solidFill>
            <a:prstDash val="solid"/>
          </a:ln>
        </p:spPr>
      </p:sp>
      <p:sp>
        <p:nvSpPr>
          <p:cNvPr id="14" name="Text 11"/>
          <p:cNvSpPr txBox="1"/>
          <p:nvPr/>
        </p:nvSpPr>
        <p:spPr>
          <a:xfrm>
            <a:off x="457200" y="3657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Text 12"/>
          <p:cNvSpPr txBox="1"/>
          <p:nvPr/>
        </p:nvSpPr>
        <p:spPr>
          <a:xfrm>
            <a:off x="1097280" y="3657600"/>
            <a:ext cx="3383280" cy="457200"/>
          </a:xfrm>
          <a:prstGeom prst="rect">
            <a:avLst/>
          </a:prstGeom>
          <a:noFill/>
          <a:ln/>
        </p:spPr>
        <p:txBody>
          <a:bodyPr wrap="square" lIns="0" tIns="0" rIns="0" bIns="0" rtlCol="0" anchor="ctr"/>
          <a:lstStyle/>
          <a:p>
            <a:pPr indent="0" marL="0">
              <a:buNone/>
            </a:pPr>
            <a:r>
              <a:rPr lang="en-US" sz="1400" dirty="0">
                <a:solidFill>
                  <a:schemeClr val="tx1"/>
                </a:solidFill>
              </a:rPr>
              <a:t>Backend - Spring Boot</a:t>
            </a:r>
            <a:endParaRPr lang="en-US" sz="1400" dirty="0"/>
          </a:p>
        </p:txBody>
      </p:sp>
      <p:sp>
        <p:nvSpPr>
          <p:cNvPr id="16" name="Shape 13"/>
          <p:cNvSpPr/>
          <p:nvPr/>
        </p:nvSpPr>
        <p:spPr>
          <a:xfrm>
            <a:off x="4663440" y="1188720"/>
            <a:ext cx="457200" cy="457200"/>
          </a:xfrm>
          <a:prstGeom prst="ellipse">
            <a:avLst/>
          </a:prstGeom>
          <a:solidFill>
            <a:schemeClr val="tx2"/>
          </a:solidFill>
          <a:ln w="12700">
            <a:solidFill>
              <a:schemeClr val="tx2"/>
            </a:solidFill>
            <a:prstDash val="solid"/>
          </a:ln>
        </p:spPr>
      </p:sp>
      <p:sp>
        <p:nvSpPr>
          <p:cNvPr id="17" name="Text 14"/>
          <p:cNvSpPr txBox="1"/>
          <p:nvPr/>
        </p:nvSpPr>
        <p:spPr>
          <a:xfrm>
            <a:off x="4663440" y="11887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8" name="Text 15"/>
          <p:cNvSpPr txBox="1"/>
          <p:nvPr/>
        </p:nvSpPr>
        <p:spPr>
          <a:xfrm>
            <a:off x="5303520" y="1188720"/>
            <a:ext cx="3383280" cy="457200"/>
          </a:xfrm>
          <a:prstGeom prst="rect">
            <a:avLst/>
          </a:prstGeom>
          <a:noFill/>
          <a:ln/>
        </p:spPr>
        <p:txBody>
          <a:bodyPr wrap="square" lIns="0" tIns="0" rIns="0" bIns="0" rtlCol="0" anchor="ctr"/>
          <a:lstStyle/>
          <a:p>
            <a:pPr indent="0" marL="0">
              <a:buNone/>
            </a:pPr>
            <a:r>
              <a:rPr lang="en-US" sz="1400" dirty="0">
                <a:solidFill>
                  <a:schemeClr val="tx1"/>
                </a:solidFill>
              </a:rPr>
              <a:t>Security, Observability and Database</a:t>
            </a:r>
            <a:endParaRPr lang="en-US" sz="1400" dirty="0"/>
          </a:p>
        </p:txBody>
      </p:sp>
      <p:sp>
        <p:nvSpPr>
          <p:cNvPr id="19" name="Shape 16"/>
          <p:cNvSpPr/>
          <p:nvPr/>
        </p:nvSpPr>
        <p:spPr>
          <a:xfrm>
            <a:off x="4663440" y="2011680"/>
            <a:ext cx="457200" cy="457200"/>
          </a:xfrm>
          <a:prstGeom prst="ellipse">
            <a:avLst/>
          </a:prstGeom>
          <a:solidFill>
            <a:schemeClr val="tx2"/>
          </a:solidFill>
          <a:ln w="12700">
            <a:solidFill>
              <a:schemeClr val="tx2"/>
            </a:solidFill>
            <a:prstDash val="solid"/>
          </a:ln>
        </p:spPr>
      </p:sp>
      <p:sp>
        <p:nvSpPr>
          <p:cNvPr id="20" name="Text 17"/>
          <p:cNvSpPr txBox="1"/>
          <p:nvPr/>
        </p:nvSpPr>
        <p:spPr>
          <a:xfrm>
            <a:off x="4663440" y="20116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1" name="Text 18"/>
          <p:cNvSpPr txBox="1"/>
          <p:nvPr/>
        </p:nvSpPr>
        <p:spPr>
          <a:xfrm>
            <a:off x="5303520" y="2011680"/>
            <a:ext cx="3383280" cy="457200"/>
          </a:xfrm>
          <a:prstGeom prst="rect">
            <a:avLst/>
          </a:prstGeom>
          <a:noFill/>
          <a:ln/>
        </p:spPr>
        <p:txBody>
          <a:bodyPr wrap="square" lIns="0" tIns="0" rIns="0" bIns="0" rtlCol="0" anchor="ctr"/>
          <a:lstStyle/>
          <a:p>
            <a:pPr indent="0" marL="0">
              <a:buNone/>
            </a:pPr>
            <a:r>
              <a:rPr lang="en-US" sz="1400" dirty="0">
                <a:solidFill>
                  <a:schemeClr val="tx1"/>
                </a:solidFill>
              </a:rPr>
              <a:t>Testing and Quality</a:t>
            </a:r>
            <a:endParaRPr lang="en-US" sz="1400" dirty="0"/>
          </a:p>
        </p:txBody>
      </p:sp>
      <p:sp>
        <p:nvSpPr>
          <p:cNvPr id="22" name="Shape 19"/>
          <p:cNvSpPr/>
          <p:nvPr/>
        </p:nvSpPr>
        <p:spPr>
          <a:xfrm>
            <a:off x="4663440" y="2834640"/>
            <a:ext cx="457200" cy="457200"/>
          </a:xfrm>
          <a:prstGeom prst="ellipse">
            <a:avLst/>
          </a:prstGeom>
          <a:solidFill>
            <a:schemeClr val="tx2"/>
          </a:solidFill>
          <a:ln w="12700">
            <a:solidFill>
              <a:schemeClr val="tx2"/>
            </a:solidFill>
            <a:prstDash val="solid"/>
          </a:ln>
        </p:spPr>
      </p:sp>
      <p:sp>
        <p:nvSpPr>
          <p:cNvPr id="23" name="Text 20"/>
          <p:cNvSpPr txBox="1"/>
          <p:nvPr/>
        </p:nvSpPr>
        <p:spPr>
          <a:xfrm>
            <a:off x="4663440" y="28346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24" name="Text 21"/>
          <p:cNvSpPr txBox="1"/>
          <p:nvPr/>
        </p:nvSpPr>
        <p:spPr>
          <a:xfrm>
            <a:off x="5303520" y="2834640"/>
            <a:ext cx="3383280" cy="457200"/>
          </a:xfrm>
          <a:prstGeom prst="rect">
            <a:avLst/>
          </a:prstGeom>
          <a:noFill/>
          <a:ln/>
        </p:spPr>
        <p:txBody>
          <a:bodyPr wrap="square" lIns="0" tIns="0" rIns="0" bIns="0" rtlCol="0" anchor="ctr"/>
          <a:lstStyle/>
          <a:p>
            <a:pPr indent="0" marL="0">
              <a:buNone/>
            </a:pPr>
            <a:r>
              <a:rPr lang="en-US" sz="1400" dirty="0">
                <a:solidFill>
                  <a:schemeClr val="tx1"/>
                </a:solidFill>
              </a:rPr>
              <a:t>User Journey, Conclusion and Future Scope</a:t>
            </a:r>
            <a:endParaRPr lang="en-US" sz="1400" dirty="0"/>
          </a:p>
        </p:txBody>
      </p:sp>
      <p:sp>
        <p:nvSpPr>
          <p:cNvPr id="25" name="Text 22"/>
          <p:cNvSpPr txBox="1"/>
          <p:nvPr/>
        </p:nvSpPr>
        <p:spPr>
          <a:xfrm>
            <a:off x="4297680" y="3931920"/>
            <a:ext cx="4389120" cy="548640"/>
          </a:xfrm>
          <a:prstGeom prst="rect">
            <a:avLst/>
          </a:prstGeom>
          <a:noFill/>
          <a:ln/>
        </p:spPr>
        <p:txBody>
          <a:bodyPr wrap="square" lIns="0" tIns="0" rIns="0" bIns="0" rtlCol="0" anchor="t"/>
          <a:lstStyle/>
          <a:p>
            <a:pPr indent="0" marL="0">
              <a:buNone/>
            </a:pPr>
            <a:r>
              <a:rPr lang="en-US" sz="1050" i="1" dirty="0">
                <a:solidFill>
                  <a:schemeClr val="accent5"/>
                </a:solidFill>
              </a:rPr>
              <a:t>Implemented functionality and proposed enhancements are labelled separately throughout.</a:t>
            </a:r>
            <a:endParaRPr lang="en-US" sz="105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100" b="1" dirty="0">
                <a:solidFill>
                  <a:schemeClr val="tx2"/>
                </a:solidFill>
                <a:latin typeface="Manrope" pitchFamily="34" charset="0"/>
                <a:ea typeface="Manrope" pitchFamily="34" charset="-122"/>
                <a:cs typeface="Manrope" pitchFamily="34" charset="-120"/>
              </a:rPr>
              <a:t>Problem: per-machine insurance is costly to administer</a:t>
            </a:r>
            <a:endParaRPr lang="en-US" sz="2100" dirty="0"/>
          </a:p>
        </p:txBody>
      </p:sp>
      <p:sp>
        <p:nvSpPr>
          <p:cNvPr id="4" name="Text 1"/>
          <p:cNvSpPr txBox="1"/>
          <p:nvPr/>
        </p:nvSpPr>
        <p:spPr>
          <a:xfrm>
            <a:off x="457200" y="868680"/>
            <a:ext cx="8229600" cy="274320"/>
          </a:xfrm>
          <a:prstGeom prst="rect">
            <a:avLst/>
          </a:prstGeom>
          <a:noFill/>
          <a:ln/>
        </p:spPr>
        <p:txBody>
          <a:bodyPr wrap="square" lIns="0" tIns="0" rIns="0" bIns="0" rtlCol="0" anchor="t"/>
          <a:lstStyle/>
          <a:p>
            <a:pPr indent="0" marL="0">
              <a:buNone/>
            </a:pPr>
            <a:r>
              <a:rPr lang="en-US" sz="1150" i="1" dirty="0">
                <a:solidFill>
                  <a:schemeClr val="accent5"/>
                </a:solidFill>
              </a:rPr>
              <a:t>One master policy covers many machines; the system must apply the lifecycle rules consistently.</a:t>
            </a:r>
            <a:endParaRPr lang="en-US" sz="1150" dirty="0"/>
          </a:p>
        </p:txBody>
      </p:sp>
      <p:sp>
        <p:nvSpPr>
          <p:cNvPr id="5" name="Shape 2"/>
          <p:cNvSpPr/>
          <p:nvPr/>
        </p:nvSpPr>
        <p:spPr>
          <a:xfrm>
            <a:off x="457200" y="1280160"/>
            <a:ext cx="4023360" cy="3017520"/>
          </a:xfrm>
          <a:prstGeom prst="rect">
            <a:avLst/>
          </a:prstGeom>
          <a:solidFill>
            <a:schemeClr val="bg1"/>
          </a:solidFill>
          <a:ln w="9525">
            <a:solidFill>
              <a:schemeClr val="accent6"/>
            </a:solidFill>
            <a:prstDash val="solid"/>
          </a:ln>
        </p:spPr>
      </p:sp>
      <p:sp>
        <p:nvSpPr>
          <p:cNvPr id="6" name="Shape 3"/>
          <p:cNvSpPr/>
          <p:nvPr/>
        </p:nvSpPr>
        <p:spPr>
          <a:xfrm>
            <a:off x="457200" y="1280160"/>
            <a:ext cx="45720" cy="3017520"/>
          </a:xfrm>
          <a:prstGeom prst="rect">
            <a:avLst/>
          </a:prstGeom>
          <a:solidFill>
            <a:schemeClr val="accent2"/>
          </a:solidFill>
          <a:ln w="12700">
            <a:solidFill>
              <a:schemeClr val="accent2"/>
            </a:solidFill>
            <a:prstDash val="solid"/>
          </a:ln>
        </p:spPr>
      </p:sp>
      <p:sp>
        <p:nvSpPr>
          <p:cNvPr id="7" name="Text 4"/>
          <p:cNvSpPr txBox="1"/>
          <p:nvPr/>
        </p:nvSpPr>
        <p:spPr>
          <a:xfrm>
            <a:off x="621792" y="1371600"/>
            <a:ext cx="3749040" cy="256032"/>
          </a:xfrm>
          <a:prstGeom prst="rect">
            <a:avLst/>
          </a:prstGeom>
          <a:noFill/>
          <a:ln/>
        </p:spPr>
        <p:txBody>
          <a:bodyPr wrap="square" lIns="0" tIns="0" rIns="0" bIns="0" rtlCol="0" anchor="t"/>
          <a:lstStyle/>
          <a:p>
            <a:pPr indent="0" marL="0">
              <a:buNone/>
            </a:pPr>
            <a:r>
              <a:rPr lang="en-US" sz="1150" b="1" dirty="0">
                <a:solidFill>
                  <a:schemeClr val="tx2"/>
                </a:solidFill>
                <a:latin typeface="Manrope" pitchFamily="34" charset="0"/>
                <a:ea typeface="Manrope" pitchFamily="34" charset="-122"/>
                <a:cs typeface="Manrope" pitchFamily="34" charset="-120"/>
              </a:rPr>
              <a:t>Problem statement</a:t>
            </a:r>
            <a:endParaRPr lang="en-US" sz="1150" dirty="0"/>
          </a:p>
        </p:txBody>
      </p:sp>
      <p:sp>
        <p:nvSpPr>
          <p:cNvPr id="8" name="Text 5"/>
          <p:cNvSpPr txBox="1"/>
          <p:nvPr/>
        </p:nvSpPr>
        <p:spPr>
          <a:xfrm>
            <a:off x="621792" y="1664208"/>
            <a:ext cx="3749040" cy="256032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chemeClr val="tx1"/>
                </a:solidFill>
              </a:rPr>
              <a:t>Contractors, mining and infrastructure firms own many high-value machines</a:t>
            </a:r>
            <a:endParaRPr lang="en-US" sz="1100" dirty="0"/>
          </a:p>
          <a:p>
            <a:pPr marL="152400" indent="-152400">
              <a:spcAft>
                <a:spcPts val="500"/>
              </a:spcAft>
              <a:buSzPct val="100000"/>
              <a:buChar char="•"/>
            </a:pPr>
            <a:r>
              <a:rPr lang="en-US" sz="1100" dirty="0">
                <a:solidFill>
                  <a:schemeClr val="tx1"/>
                </a:solidFill>
              </a:rPr>
              <a:t>Separate policies per machine multiply administration</a:t>
            </a:r>
            <a:endParaRPr lang="en-US" sz="1100" dirty="0"/>
          </a:p>
          <a:p>
            <a:pPr marL="152400" indent="-152400">
              <a:spcAft>
                <a:spcPts val="500"/>
              </a:spcAft>
              <a:buSzPct val="100000"/>
              <a:buChar char="•"/>
            </a:pPr>
            <a:r>
              <a:rPr lang="en-US" sz="1100" dirty="0">
                <a:solidFill>
                  <a:schemeClr val="tx1"/>
                </a:solidFill>
              </a:rPr>
              <a:t>Risk, underwriting, claim and renewal rules must be applied uniformly across the policy lifecycle</a:t>
            </a:r>
            <a:endParaRPr lang="en-US" sz="1100" dirty="0"/>
          </a:p>
        </p:txBody>
      </p:sp>
      <p:sp>
        <p:nvSpPr>
          <p:cNvPr id="9" name="Shape 6"/>
          <p:cNvSpPr/>
          <p:nvPr/>
        </p:nvSpPr>
        <p:spPr>
          <a:xfrm>
            <a:off x="4663440" y="1280160"/>
            <a:ext cx="4023360" cy="3017520"/>
          </a:xfrm>
          <a:prstGeom prst="rect">
            <a:avLst/>
          </a:prstGeom>
          <a:solidFill>
            <a:schemeClr val="bg1"/>
          </a:solidFill>
          <a:ln w="9525">
            <a:solidFill>
              <a:schemeClr val="accent6"/>
            </a:solidFill>
            <a:prstDash val="solid"/>
          </a:ln>
        </p:spPr>
      </p:sp>
      <p:sp>
        <p:nvSpPr>
          <p:cNvPr id="10" name="Shape 7"/>
          <p:cNvSpPr/>
          <p:nvPr/>
        </p:nvSpPr>
        <p:spPr>
          <a:xfrm>
            <a:off x="4663440" y="1280160"/>
            <a:ext cx="45720" cy="3017520"/>
          </a:xfrm>
          <a:prstGeom prst="rect">
            <a:avLst/>
          </a:prstGeom>
          <a:solidFill>
            <a:schemeClr val="accent3"/>
          </a:solidFill>
          <a:ln w="12700">
            <a:solidFill>
              <a:schemeClr val="accent3"/>
            </a:solidFill>
            <a:prstDash val="solid"/>
          </a:ln>
        </p:spPr>
      </p:sp>
      <p:sp>
        <p:nvSpPr>
          <p:cNvPr id="11" name="Text 8"/>
          <p:cNvSpPr txBox="1"/>
          <p:nvPr/>
        </p:nvSpPr>
        <p:spPr>
          <a:xfrm>
            <a:off x="4828032" y="1371600"/>
            <a:ext cx="3749040" cy="256032"/>
          </a:xfrm>
          <a:prstGeom prst="rect">
            <a:avLst/>
          </a:prstGeom>
          <a:noFill/>
          <a:ln/>
        </p:spPr>
        <p:txBody>
          <a:bodyPr wrap="square" lIns="0" tIns="0" rIns="0" bIns="0" rtlCol="0" anchor="t"/>
          <a:lstStyle/>
          <a:p>
            <a:pPr indent="0" marL="0">
              <a:buNone/>
            </a:pPr>
            <a:r>
              <a:rPr lang="en-US" sz="1150" b="1" dirty="0">
                <a:solidFill>
                  <a:schemeClr val="tx2"/>
                </a:solidFill>
                <a:latin typeface="Manrope" pitchFamily="34" charset="0"/>
                <a:ea typeface="Manrope" pitchFamily="34" charset="-122"/>
                <a:cs typeface="Manrope" pitchFamily="34" charset="-120"/>
              </a:rPr>
              <a:t>Objectives</a:t>
            </a:r>
            <a:endParaRPr lang="en-US" sz="1150" dirty="0"/>
          </a:p>
        </p:txBody>
      </p:sp>
      <p:sp>
        <p:nvSpPr>
          <p:cNvPr id="12" name="Text 9"/>
          <p:cNvSpPr txBox="1"/>
          <p:nvPr/>
        </p:nvSpPr>
        <p:spPr>
          <a:xfrm>
            <a:off x="4828032" y="1664208"/>
            <a:ext cx="3749040" cy="256032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chemeClr val="tx1"/>
                </a:solidFill>
              </a:rPr>
              <a:t>Register companies, equipment, operators and project sites</a:t>
            </a:r>
            <a:endParaRPr lang="en-US" sz="1100" dirty="0"/>
          </a:p>
          <a:p>
            <a:pPr marL="152400" indent="-152400">
              <a:spcAft>
                <a:spcPts val="500"/>
              </a:spcAft>
              <a:buSzPct val="100000"/>
              <a:buChar char="•"/>
            </a:pPr>
            <a:r>
              <a:rPr lang="en-US" sz="1100" dirty="0">
                <a:solidFill>
                  <a:schemeClr val="tx1"/>
                </a:solidFill>
              </a:rPr>
              <a:t>Risk-based quotation and underwriting decision</a:t>
            </a:r>
            <a:endParaRPr lang="en-US" sz="1100" dirty="0"/>
          </a:p>
          <a:p>
            <a:pPr marL="152400" indent="-152400">
              <a:spcAft>
                <a:spcPts val="500"/>
              </a:spcAft>
              <a:buSzPct val="100000"/>
              <a:buChar char="•"/>
            </a:pPr>
            <a:r>
              <a:rPr lang="en-US" sz="1100" dirty="0">
                <a:solidFill>
                  <a:schemeClr val="tx1"/>
                </a:solidFill>
              </a:rPr>
              <a:t>Issue master policy; handle endorsements and renewals</a:t>
            </a:r>
            <a:endParaRPr lang="en-US" sz="1100" dirty="0"/>
          </a:p>
          <a:p>
            <a:pPr marL="152400" indent="-152400">
              <a:spcAft>
                <a:spcPts val="500"/>
              </a:spcAft>
              <a:buSzPct val="100000"/>
              <a:buChar char="•"/>
            </a:pPr>
            <a:r>
              <a:rPr lang="en-US" sz="1100" dirty="0">
                <a:solidFill>
                  <a:schemeClr val="tx1"/>
                </a:solidFill>
              </a:rPr>
              <a:t>FNOL to settlement with a strict settlement formula</a:t>
            </a:r>
            <a:endParaRPr lang="en-US" sz="1100" dirty="0"/>
          </a:p>
          <a:p>
            <a:pPr marL="152400" indent="-152400">
              <a:spcAft>
                <a:spcPts val="500"/>
              </a:spcAft>
              <a:buSzPct val="100000"/>
              <a:buChar char="•"/>
            </a:pPr>
            <a:r>
              <a:rPr lang="en-US" sz="1100" dirty="0">
                <a:solidFill>
                  <a:schemeClr val="tx1"/>
                </a:solidFill>
              </a:rPr>
              <a:t>Invoicing, payments and notifications</a:t>
            </a:r>
            <a:endParaRPr lang="en-US" sz="11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100" b="1" dirty="0">
                <a:solidFill>
                  <a:schemeClr val="tx2"/>
                </a:solidFill>
                <a:latin typeface="Manrope" pitchFamily="34" charset="0"/>
                <a:ea typeface="Manrope" pitchFamily="34" charset="-122"/>
                <a:cs typeface="Manrope" pitchFamily="34" charset="-120"/>
              </a:rPr>
              <a:t>Five roles drive the insurance lifecycle</a:t>
            </a:r>
            <a:endParaRPr lang="en-US" sz="2100" dirty="0"/>
          </a:p>
        </p:txBody>
      </p:sp>
      <p:sp>
        <p:nvSpPr>
          <p:cNvPr id="4" name="Text 1"/>
          <p:cNvSpPr txBox="1"/>
          <p:nvPr/>
        </p:nvSpPr>
        <p:spPr>
          <a:xfrm>
            <a:off x="457200" y="868680"/>
            <a:ext cx="8229600" cy="274320"/>
          </a:xfrm>
          <a:prstGeom prst="rect">
            <a:avLst/>
          </a:prstGeom>
          <a:noFill/>
          <a:ln/>
        </p:spPr>
        <p:txBody>
          <a:bodyPr wrap="square" lIns="0" tIns="0" rIns="0" bIns="0" rtlCol="0" anchor="t"/>
          <a:lstStyle/>
          <a:p>
            <a:pPr indent="0" marL="0">
              <a:buNone/>
            </a:pPr>
            <a:r>
              <a:rPr lang="en-US" sz="1150" i="1" dirty="0">
                <a:solidFill>
                  <a:schemeClr val="accent5"/>
                </a:solidFill>
              </a:rPr>
              <a:t>Each role maps to specific controllers and frontend dashboards.</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554480"/>
                <a:gridCol w="6675120"/>
              </a:tblGrid>
              <a:tr h="0">
                <a:tc>
                  <a:txBody>
                    <a:bodyPr/>
                    <a:lstStyle/>
                    <a:p>
                      <a:pPr indent="0" marL="0">
                        <a:buNone/>
                      </a:pPr>
                      <a:r>
                        <a:rPr lang="en-US" sz="1000" b="1" dirty="0">
                          <a:solidFill>
                            <a:srgbClr val="FFFFFF"/>
                          </a:solidFill>
                          <a:latin typeface="Manrope" pitchFamily="34" charset="0"/>
                          <a:ea typeface="Manrope" pitchFamily="34" charset="-122"/>
                          <a:cs typeface="Manrope" pitchFamily="34" charset="-120"/>
                        </a:rPr>
                        <a:t>Role</a:t>
                      </a:r>
                      <a:endParaRPr lang="en-US" sz="100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1000" b="1" dirty="0">
                          <a:solidFill>
                            <a:srgbClr val="FFFFFF"/>
                          </a:solidFill>
                          <a:latin typeface="Manrope" pitchFamily="34" charset="0"/>
                          <a:ea typeface="Manrope" pitchFamily="34" charset="-122"/>
                          <a:cs typeface="Manrope" pitchFamily="34" charset="-120"/>
                        </a:rPr>
                        <a:t>Principal capabilities (from controller annotations)</a:t>
                      </a:r>
                      <a:endParaRPr lang="en-US" sz="100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r>
              <a:tr h="0">
                <a:tc>
                  <a:txBody>
                    <a:bodyPr/>
                    <a:lstStyle/>
                    <a:p>
                      <a:pPr indent="0" marL="0">
                        <a:buNone/>
                      </a:pPr>
                      <a:r>
                        <a:rPr lang="en-US" sz="1100" dirty="0">
                          <a:solidFill>
                            <a:srgbClr val="211E1F"/>
                          </a:solidFill>
                        </a:rPr>
                        <a:t>CUSTOMER</a:t>
                      </a:r>
                      <a:endParaRPr lang="en-US" sz="11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100" dirty="0">
                          <a:solidFill>
                            <a:srgbClr val="211E1F"/>
                          </a:solidFill>
                        </a:rPr>
                        <a:t>Register company; manage equipment, operators, sites; create quotes; submit FNOL; request endorsements; view policies and claims</a:t>
                      </a:r>
                      <a:endParaRPr lang="en-US" sz="11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11E1F"/>
                          </a:solidFill>
                        </a:rPr>
                        <a:t>UNDERWRITER</a:t>
                      </a:r>
                      <a:endParaRPr lang="en-US" sz="11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100" dirty="0">
                          <a:solidFill>
                            <a:srgbClr val="211E1F"/>
                          </a:solidFill>
                        </a:rPr>
                        <a:t>Review queue; risk assessment; quote and endorsement decisions</a:t>
                      </a:r>
                      <a:endParaRPr lang="en-US" sz="11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100" dirty="0">
                          <a:solidFill>
                            <a:srgbClr val="211E1F"/>
                          </a:solidFill>
                        </a:rPr>
                        <a:t>POLICY_OFFICER</a:t>
                      </a:r>
                      <a:endParaRPr lang="en-US" sz="11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100" dirty="0">
                          <a:solidFill>
                            <a:srgbClr val="211E1F"/>
                          </a:solidFill>
                        </a:rPr>
                        <a:t>Create and issue policies; issue endorsements; invoices and refunds; renewal queue</a:t>
                      </a:r>
                      <a:endParaRPr lang="en-US" sz="11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11E1F"/>
                          </a:solidFill>
                        </a:rPr>
                        <a:t>CLAIMS_OFFICER</a:t>
                      </a:r>
                      <a:endParaRPr lang="en-US" sz="11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100" dirty="0">
                          <a:solidFill>
                            <a:srgbClr val="211E1F"/>
                          </a:solidFill>
                        </a:rPr>
                        <a:t>Eligibility review; assessment; claim decision; settlement; payment request; closure</a:t>
                      </a:r>
                      <a:endParaRPr lang="en-US" sz="11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100" dirty="0">
                          <a:solidFill>
                            <a:srgbClr val="211E1F"/>
                          </a:solidFill>
                        </a:rPr>
                        <a:t>ADMIN</a:t>
                      </a:r>
                      <a:endParaRPr lang="en-US" sz="11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100" dirty="0">
                          <a:solidFill>
                            <a:srgbClr val="211E1F"/>
                          </a:solidFill>
                        </a:rPr>
                        <a:t>User administration; company approval; settlement authority review; most staff operations</a:t>
                      </a:r>
                      <a:endParaRPr lang="en-US" sz="11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4114800"/>
            <a:ext cx="8229600" cy="457200"/>
          </a:xfrm>
          <a:prstGeom prst="rect">
            <a:avLst/>
          </a:prstGeom>
          <a:noFill/>
          <a:ln/>
        </p:spPr>
        <p:txBody>
          <a:bodyPr wrap="square" lIns="0" tIns="0" rIns="0" bIns="0" rtlCol="0" anchor="t"/>
          <a:lstStyle/>
          <a:p>
            <a:pPr indent="0" marL="0">
              <a:buNone/>
            </a:pPr>
            <a:r>
              <a:rPr lang="en-US" sz="1000" dirty="0">
                <a:solidFill>
                  <a:schemeClr val="accent5"/>
                </a:solidFill>
              </a:rPr>
              <a:t>Covered equipment: heavy (excavators, cranes, loaders), supporting (generators, compressors) and small tools. Optional cover and exclusions are policy-configurable per the domain document.</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100" b="1" dirty="0">
                <a:solidFill>
                  <a:schemeClr val="tx2"/>
                </a:solidFill>
                <a:latin typeface="Manrope" pitchFamily="34" charset="0"/>
                <a:ea typeface="Manrope" pitchFamily="34" charset="-122"/>
                <a:cs typeface="Manrope" pitchFamily="34" charset="-120"/>
              </a:rPr>
              <a:t>Most functional requirements are implemented in code</a:t>
            </a:r>
            <a:endParaRPr lang="en-US" sz="2100" dirty="0"/>
          </a:p>
        </p:txBody>
      </p:sp>
      <p:sp>
        <p:nvSpPr>
          <p:cNvPr id="4" name="Text 1"/>
          <p:cNvSpPr txBox="1"/>
          <p:nvPr/>
        </p:nvSpPr>
        <p:spPr>
          <a:xfrm>
            <a:off x="457200" y="868680"/>
            <a:ext cx="8229600" cy="274320"/>
          </a:xfrm>
          <a:prstGeom prst="rect">
            <a:avLst/>
          </a:prstGeom>
          <a:noFill/>
          <a:ln/>
        </p:spPr>
        <p:txBody>
          <a:bodyPr wrap="square" lIns="0" tIns="0" rIns="0" bIns="0" rtlCol="0" anchor="t"/>
          <a:lstStyle/>
          <a:p>
            <a:pPr indent="0" marL="0">
              <a:buNone/>
            </a:pPr>
            <a:r>
              <a:rPr lang="en-US" sz="1150" i="1" dirty="0">
                <a:solidFill>
                  <a:schemeClr val="accent5"/>
                </a:solidFill>
              </a:rPr>
              <a:t>Traceability from domain rules to code; gaps are stated openly.</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914400"/>
                <a:gridCol w="3291840"/>
                <a:gridCol w="2651760"/>
                <a:gridCol w="1371600"/>
              </a:tblGrid>
              <a:tr h="0">
                <a:tc>
                  <a:txBody>
                    <a:bodyPr/>
                    <a:lstStyle/>
                    <a:p>
                      <a:pPr indent="0" marL="0">
                        <a:buNone/>
                      </a:pPr>
                      <a:r>
                        <a:rPr lang="en-US" sz="900" b="1" dirty="0">
                          <a:solidFill>
                            <a:srgbClr val="FFFFFF"/>
                          </a:solidFill>
                          <a:latin typeface="Manrope" pitchFamily="34" charset="0"/>
                          <a:ea typeface="Manrope" pitchFamily="34" charset="-122"/>
                          <a:cs typeface="Manrope" pitchFamily="34" charset="-120"/>
                        </a:rPr>
                        <a:t>ID</a:t>
                      </a:r>
                      <a:endParaRPr lang="en-US" sz="90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900" b="1" dirty="0">
                          <a:solidFill>
                            <a:srgbClr val="FFFFFF"/>
                          </a:solidFill>
                          <a:latin typeface="Manrope" pitchFamily="34" charset="0"/>
                          <a:ea typeface="Manrope" pitchFamily="34" charset="-122"/>
                          <a:cs typeface="Manrope" pitchFamily="34" charset="-120"/>
                        </a:rPr>
                        <a:t>Requirement / rule</a:t>
                      </a:r>
                      <a:endParaRPr lang="en-US" sz="90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900" b="1" dirty="0">
                          <a:solidFill>
                            <a:srgbClr val="FFFFFF"/>
                          </a:solidFill>
                          <a:latin typeface="Manrope" pitchFamily="34" charset="0"/>
                          <a:ea typeface="Manrope" pitchFamily="34" charset="-122"/>
                          <a:cs typeface="Manrope" pitchFamily="34" charset="-120"/>
                        </a:rPr>
                        <a:t>Evidence</a:t>
                      </a:r>
                      <a:endParaRPr lang="en-US" sz="90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900" b="1" dirty="0">
                          <a:solidFill>
                            <a:srgbClr val="FFFFFF"/>
                          </a:solidFill>
                          <a:latin typeface="Manrope" pitchFamily="34" charset="0"/>
                          <a:ea typeface="Manrope" pitchFamily="34" charset="-122"/>
                          <a:cs typeface="Manrope" pitchFamily="34" charset="-120"/>
                        </a:rPr>
                        <a:t>Status</a:t>
                      </a:r>
                      <a:endParaRPr lang="en-US" sz="90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r>
              <a:tr h="0">
                <a:tc>
                  <a:txBody>
                    <a:bodyPr/>
                    <a:lstStyle/>
                    <a:p>
                      <a:pPr indent="0" marL="0">
                        <a:buNone/>
                      </a:pPr>
                      <a:r>
                        <a:rPr lang="en-US" sz="1000" dirty="0">
                          <a:solidFill>
                            <a:srgbClr val="211E1F"/>
                          </a:solidFill>
                        </a:rPr>
                        <a:t>FR-001</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00" dirty="0">
                          <a:solidFill>
                            <a:srgbClr val="211E1F"/>
                          </a:solidFill>
                        </a:rPr>
                        <a:t>Customer self-registration</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00" dirty="0">
                          <a:solidFill>
                            <a:srgbClr val="211E1F"/>
                          </a:solidFill>
                        </a:rPr>
                        <a:t>AuthService.register</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00" dirty="0">
                          <a:solidFill>
                            <a:srgbClr val="211E1F"/>
                          </a:solidFill>
                        </a:rPr>
                        <a:t>Implemented</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211E1F"/>
                          </a:solidFill>
                        </a:rPr>
                        <a:t>FR-002</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00" dirty="0">
                          <a:solidFill>
                            <a:srgbClr val="211E1F"/>
                          </a:solidFill>
                        </a:rPr>
                        <a:t>Company registration, admin approval</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00" dirty="0">
                          <a:solidFill>
                            <a:srgbClr val="211E1F"/>
                          </a:solidFill>
                        </a:rPr>
                        <a:t>CompanyController</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00" dirty="0">
                          <a:solidFill>
                            <a:srgbClr val="211E1F"/>
                          </a:solidFill>
                        </a:rPr>
                        <a:t>Implemented</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000" dirty="0">
                          <a:solidFill>
                            <a:srgbClr val="211E1F"/>
                          </a:solidFill>
                        </a:rPr>
                        <a:t>FR-006</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00" dirty="0">
                          <a:solidFill>
                            <a:srgbClr val="211E1F"/>
                          </a:solidFill>
                        </a:rPr>
                        <a:t>Equipment assignment without overlap</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00" dirty="0">
                          <a:solidFill>
                            <a:srgbClr val="211E1F"/>
                          </a:solidFill>
                        </a:rPr>
                        <a:t>EquipmentAssignmentService</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00" dirty="0">
                          <a:solidFill>
                            <a:srgbClr val="211E1F"/>
                          </a:solidFill>
                        </a:rPr>
                        <a:t>Implemented</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211E1F"/>
                          </a:solidFill>
                        </a:rPr>
                        <a:t>FR-008/010</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00" dirty="0">
                          <a:solidFill>
                            <a:srgbClr val="211E1F"/>
                          </a:solidFill>
                        </a:rPr>
                        <a:t>Quote, underwriting decisions</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00" dirty="0">
                          <a:solidFill>
                            <a:srgbClr val="211E1F"/>
                          </a:solidFill>
                        </a:rPr>
                        <a:t>QuoteController, UnderwritingController</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00" dirty="0">
                          <a:solidFill>
                            <a:srgbClr val="211E1F"/>
                          </a:solidFill>
                        </a:rPr>
                        <a:t>Implemented</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000" dirty="0">
                          <a:solidFill>
                            <a:srgbClr val="211E1F"/>
                          </a:solidFill>
                        </a:rPr>
                        <a:t>FR-011</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00" dirty="0">
                          <a:solidFill>
                            <a:srgbClr val="211E1F"/>
                          </a:solidFill>
                        </a:rPr>
                        <a:t>Policy issued from approved quote</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00" dirty="0">
                          <a:solidFill>
                            <a:srgbClr val="211E1F"/>
                          </a:solidFill>
                        </a:rPr>
                        <a:t>PolicyController</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00" dirty="0">
                          <a:solidFill>
                            <a:srgbClr val="211E1F"/>
                          </a:solidFill>
                        </a:rPr>
                        <a:t>Implemented</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211E1F"/>
                          </a:solidFill>
                        </a:rPr>
                        <a:t>FR-012</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00" dirty="0">
                          <a:solidFill>
                            <a:srgbClr val="211E1F"/>
                          </a:solidFill>
                        </a:rPr>
                        <a:t>Endorsement request to issue</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00" dirty="0">
                          <a:solidFill>
                            <a:srgbClr val="211E1F"/>
                          </a:solidFill>
                        </a:rPr>
                        <a:t>EndorsementService</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00" dirty="0">
                          <a:solidFill>
                            <a:srgbClr val="211E1F"/>
                          </a:solidFill>
                        </a:rPr>
                        <a:t>Partial</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000" dirty="0">
                          <a:solidFill>
                            <a:srgbClr val="211E1F"/>
                          </a:solidFill>
                        </a:rPr>
                        <a:t>FR-016</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00" dirty="0">
                          <a:solidFill>
                            <a:srgbClr val="211E1F"/>
                          </a:solidFill>
                        </a:rPr>
                        <a:t>Invoices; idempotent payments</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00" dirty="0">
                          <a:solidFill>
                            <a:srgbClr val="211E1F"/>
                          </a:solidFill>
                        </a:rPr>
                        <a:t>InvoiceController, idempotency_key</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00" dirty="0">
                          <a:solidFill>
                            <a:srgbClr val="211E1F"/>
                          </a:solidFill>
                        </a:rPr>
                        <a:t>Implemented</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211E1F"/>
                          </a:solidFill>
                        </a:rPr>
                        <a:t>BR-004/005</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00" dirty="0">
                          <a:solidFill>
                            <a:srgbClr val="211E1F"/>
                          </a:solidFill>
                        </a:rPr>
                        <a:t>Settlement = loss - deductible - depreciation - salvage; capped at sum insured</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00" dirty="0">
                          <a:solidFill>
                            <a:srgbClr val="211E1F"/>
                          </a:solidFill>
                        </a:rPr>
                        <a:t>SettlementCalculationRule</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00" dirty="0">
                          <a:solidFill>
                            <a:srgbClr val="211E1F"/>
                          </a:solidFill>
                        </a:rPr>
                        <a:t>Implemented</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000" dirty="0">
                          <a:solidFill>
                            <a:srgbClr val="211E1F"/>
                          </a:solidFill>
                        </a:rPr>
                        <a:t>BR-006</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00" dirty="0">
                          <a:solidFill>
                            <a:srgbClr val="211E1F"/>
                          </a:solidFill>
                        </a:rPr>
                        <a:t>Total loss at repair-to-value threshold (default 75%)</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00" dirty="0">
                          <a:solidFill>
                            <a:srgbClr val="211E1F"/>
                          </a:solidFill>
                        </a:rPr>
                        <a:t>LossClassificationRule</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00" dirty="0">
                          <a:solidFill>
                            <a:srgbClr val="211E1F"/>
                          </a:solidFill>
                        </a:rPr>
                        <a:t>Implemented</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211E1F"/>
                          </a:solidFill>
                        </a:rPr>
                        <a:t>BR-008</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00" dirty="0">
                          <a:solidFill>
                            <a:srgbClr val="211E1F"/>
                          </a:solidFill>
                        </a:rPr>
                        <a:t>Endorsement premium pro-rated by days</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00" dirty="0">
                          <a:solidFill>
                            <a:srgbClr val="211E1F"/>
                          </a:solidFill>
                        </a:rPr>
                        <a:t>Not found</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00" dirty="0">
                          <a:solidFill>
                            <a:srgbClr val="211E1F"/>
                          </a:solidFill>
                        </a:rPr>
                        <a:t>Missing</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000" dirty="0">
                          <a:solidFill>
                            <a:srgbClr val="211E1F"/>
                          </a:solidFill>
                        </a:rPr>
                        <a:t>BR-011</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00" dirty="0">
                          <a:solidFill>
                            <a:srgbClr val="211E1F"/>
                          </a:solidFill>
                        </a:rPr>
                        <a:t>Account lock after failed sign-ins</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00" dirty="0">
                          <a:solidFill>
                            <a:srgbClr val="211E1F"/>
                          </a:solidFill>
                        </a:rPr>
                        <a:t>Counter never incremented</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00" dirty="0">
                          <a:solidFill>
                            <a:srgbClr val="211E1F"/>
                          </a:solidFill>
                        </a:rPr>
                        <a:t>Missing</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100" b="1" dirty="0">
                <a:solidFill>
                  <a:schemeClr val="tx2"/>
                </a:solidFill>
                <a:latin typeface="Manrope" pitchFamily="34" charset="0"/>
                <a:ea typeface="Manrope" pitchFamily="34" charset="-122"/>
                <a:cs typeface="Manrope" pitchFamily="34" charset="-120"/>
              </a:rPr>
              <a:t>Microservices behind a single API gateway</a:t>
            </a:r>
            <a:endParaRPr lang="en-US" sz="2100" dirty="0"/>
          </a:p>
        </p:txBody>
      </p:sp>
      <p:sp>
        <p:nvSpPr>
          <p:cNvPr id="4" name="Text 1"/>
          <p:cNvSpPr txBox="1"/>
          <p:nvPr/>
        </p:nvSpPr>
        <p:spPr>
          <a:xfrm>
            <a:off x="457200" y="868680"/>
            <a:ext cx="8229600" cy="274320"/>
          </a:xfrm>
          <a:prstGeom prst="rect">
            <a:avLst/>
          </a:prstGeom>
          <a:noFill/>
          <a:ln/>
        </p:spPr>
        <p:txBody>
          <a:bodyPr wrap="square" lIns="0" tIns="0" rIns="0" bIns="0" rtlCol="0" anchor="t"/>
          <a:lstStyle/>
          <a:p>
            <a:pPr indent="0" marL="0">
              <a:buNone/>
            </a:pPr>
            <a:r>
              <a:rPr lang="en-US" sz="1150" i="1" dirty="0">
                <a:solidFill>
                  <a:schemeClr val="accent5"/>
                </a:solidFill>
              </a:rPr>
              <a:t>Angular client -&gt; gateway (JWT check, path rules) -&gt; five business services, each with its own database.</a:t>
            </a:r>
            <a:endParaRPr lang="en-US" sz="1150" dirty="0"/>
          </a:p>
        </p:txBody>
      </p:sp>
      <p:sp>
        <p:nvSpPr>
          <p:cNvPr id="5" name="node"/>
          <p:cNvSpPr/>
          <p:nvPr/>
        </p:nvSpPr>
        <p:spPr>
          <a:xfrm>
            <a:off x="457200" y="2331720"/>
            <a:ext cx="1280160" cy="731520"/>
          </a:xfrm>
          <a:prstGeom prst="rect">
            <a:avLst/>
          </a:prstGeom>
          <a:solidFill>
            <a:schemeClr val="tx2"/>
          </a:solidFill>
          <a:ln w="12700">
            <a:solidFill>
              <a:schemeClr val="tx2"/>
            </a:solidFill>
            <a:prstDash val="solid"/>
          </a:ln>
        </p:spPr>
      </p:sp>
      <p:sp>
        <p:nvSpPr>
          <p:cNvPr id="6" name="Text 3"/>
          <p:cNvSpPr txBox="1"/>
          <p:nvPr/>
        </p:nvSpPr>
        <p:spPr>
          <a:xfrm>
            <a:off x="493776" y="2331720"/>
            <a:ext cx="1207008" cy="731520"/>
          </a:xfrm>
          <a:prstGeom prst="rect">
            <a:avLst/>
          </a:prstGeom>
          <a:noFill/>
          <a:ln/>
        </p:spPr>
        <p:txBody>
          <a:bodyPr wrap="square" lIns="0" tIns="0" rIns="0" bIns="0" rtlCol="0" anchor="ctr"/>
          <a:lstStyle/>
          <a:p>
            <a:pPr algn="ctr" indent="0" marL="0">
              <a:buNone/>
            </a:pPr>
            <a:r>
              <a:rPr lang="en-US" sz="950" b="1" dirty="0">
                <a:solidFill>
                  <a:schemeClr val="bg1"/>
                </a:solidFill>
              </a:rPr>
              <a:t>Angular SPA</a:t>
            </a:r>
            <a:endParaRPr lang="en-US" sz="950" dirty="0"/>
          </a:p>
          <a:p>
            <a:pPr algn="ctr" indent="0" marL="0">
              <a:buNone/>
            </a:pPr>
            <a:r>
              <a:rPr lang="en-US" sz="950" b="1" dirty="0">
                <a:solidFill>
                  <a:schemeClr val="bg1"/>
                </a:solidFill>
              </a:rPr>
              <a:t>(RIGVA UI)</a:t>
            </a:r>
            <a:endParaRPr lang="en-US" sz="950" dirty="0"/>
          </a:p>
        </p:txBody>
      </p:sp>
      <p:sp>
        <p:nvSpPr>
          <p:cNvPr id="7" name="node"/>
          <p:cNvSpPr/>
          <p:nvPr/>
        </p:nvSpPr>
        <p:spPr>
          <a:xfrm>
            <a:off x="2194560" y="2331720"/>
            <a:ext cx="1371600" cy="731520"/>
          </a:xfrm>
          <a:prstGeom prst="rect">
            <a:avLst/>
          </a:prstGeom>
          <a:solidFill>
            <a:schemeClr val="tx2"/>
          </a:solidFill>
          <a:ln w="12700">
            <a:solidFill>
              <a:schemeClr val="tx2"/>
            </a:solidFill>
            <a:prstDash val="solid"/>
          </a:ln>
        </p:spPr>
      </p:sp>
      <p:sp>
        <p:nvSpPr>
          <p:cNvPr id="8" name="Text 5"/>
          <p:cNvSpPr txBox="1"/>
          <p:nvPr/>
        </p:nvSpPr>
        <p:spPr>
          <a:xfrm>
            <a:off x="2231136" y="2331720"/>
            <a:ext cx="1298448" cy="731520"/>
          </a:xfrm>
          <a:prstGeom prst="rect">
            <a:avLst/>
          </a:prstGeom>
          <a:noFill/>
          <a:ln/>
        </p:spPr>
        <p:txBody>
          <a:bodyPr wrap="square" lIns="0" tIns="0" rIns="0" bIns="0" rtlCol="0" anchor="ctr"/>
          <a:lstStyle/>
          <a:p>
            <a:pPr algn="ctr" indent="0" marL="0">
              <a:buNone/>
            </a:pPr>
            <a:r>
              <a:rPr lang="en-US" sz="900" b="1" dirty="0">
                <a:solidFill>
                  <a:schemeClr val="bg1"/>
                </a:solidFill>
              </a:rPr>
              <a:t>API Gateway</a:t>
            </a:r>
            <a:endParaRPr lang="en-US" sz="900" dirty="0"/>
          </a:p>
          <a:p>
            <a:pPr algn="ctr" indent="0" marL="0">
              <a:buNone/>
            </a:pPr>
            <a:r>
              <a:rPr lang="en-US" sz="900" b="1" dirty="0">
                <a:solidFill>
                  <a:schemeClr val="bg1"/>
                </a:solidFill>
              </a:rPr>
              <a:t>CORS, JWT, correlation ID</a:t>
            </a:r>
            <a:endParaRPr lang="en-US" sz="900" dirty="0"/>
          </a:p>
        </p:txBody>
      </p:sp>
      <p:sp>
        <p:nvSpPr>
          <p:cNvPr id="9" name="node"/>
          <p:cNvSpPr/>
          <p:nvPr/>
        </p:nvSpPr>
        <p:spPr>
          <a:xfrm>
            <a:off x="2194560" y="1325880"/>
            <a:ext cx="1371600" cy="548640"/>
          </a:xfrm>
          <a:prstGeom prst="rect">
            <a:avLst/>
          </a:prstGeom>
          <a:solidFill>
            <a:schemeClr val="bg1"/>
          </a:solidFill>
          <a:ln w="12700">
            <a:solidFill>
              <a:schemeClr val="accent5"/>
            </a:solidFill>
            <a:prstDash val="solid"/>
          </a:ln>
        </p:spPr>
      </p:sp>
      <p:sp>
        <p:nvSpPr>
          <p:cNvPr id="10" name="Text 7"/>
          <p:cNvSpPr txBox="1"/>
          <p:nvPr/>
        </p:nvSpPr>
        <p:spPr>
          <a:xfrm>
            <a:off x="2231136" y="1325880"/>
            <a:ext cx="1298448" cy="548640"/>
          </a:xfrm>
          <a:prstGeom prst="rect">
            <a:avLst/>
          </a:prstGeom>
          <a:noFill/>
          <a:ln/>
        </p:spPr>
        <p:txBody>
          <a:bodyPr wrap="square" lIns="0" tIns="0" rIns="0" bIns="0" rtlCol="0" anchor="ctr"/>
          <a:lstStyle/>
          <a:p>
            <a:pPr algn="ctr" indent="0" marL="0">
              <a:buNone/>
            </a:pPr>
            <a:r>
              <a:rPr lang="en-US" sz="900" dirty="0">
                <a:solidFill>
                  <a:schemeClr val="tx1"/>
                </a:solidFill>
              </a:rPr>
              <a:t>Eureka Server</a:t>
            </a:r>
            <a:endParaRPr lang="en-US" sz="900" dirty="0"/>
          </a:p>
          <a:p>
            <a:pPr algn="ctr" indent="0" marL="0">
              <a:buNone/>
            </a:pPr>
            <a:r>
              <a:rPr lang="en-US" sz="900" dirty="0">
                <a:solidFill>
                  <a:schemeClr val="tx1"/>
                </a:solidFill>
              </a:rPr>
              <a:t>(registry)</a:t>
            </a:r>
            <a:endParaRPr lang="en-US" sz="900" dirty="0"/>
          </a:p>
        </p:txBody>
      </p:sp>
      <p:sp>
        <p:nvSpPr>
          <p:cNvPr id="11" name="Shape 8"/>
          <p:cNvSpPr/>
          <p:nvPr/>
        </p:nvSpPr>
        <p:spPr>
          <a:xfrm>
            <a:off x="1737360" y="2697480"/>
            <a:ext cx="457200" cy="0"/>
          </a:xfrm>
          <a:prstGeom prst="line">
            <a:avLst/>
          </a:prstGeom>
          <a:noFill/>
          <a:ln w="13970">
            <a:solidFill>
              <a:schemeClr val="tx2"/>
            </a:solidFill>
            <a:prstDash val="solid"/>
            <a:tailEnd type="triangle"/>
          </a:ln>
        </p:spPr>
      </p:sp>
      <p:sp>
        <p:nvSpPr>
          <p:cNvPr id="12" name="Shape 9"/>
          <p:cNvSpPr/>
          <p:nvPr/>
        </p:nvSpPr>
        <p:spPr>
          <a:xfrm flipV="1">
            <a:off x="2880360" y="1874520"/>
            <a:ext cx="0" cy="457200"/>
          </a:xfrm>
          <a:prstGeom prst="line">
            <a:avLst/>
          </a:prstGeom>
          <a:noFill/>
          <a:ln w="13970">
            <a:solidFill>
              <a:schemeClr val="tx2"/>
            </a:solidFill>
            <a:prstDash val="dash"/>
            <a:tailEnd type="triangle"/>
          </a:ln>
        </p:spPr>
      </p:sp>
      <p:sp>
        <p:nvSpPr>
          <p:cNvPr id="13" name="node"/>
          <p:cNvSpPr/>
          <p:nvPr/>
        </p:nvSpPr>
        <p:spPr>
          <a:xfrm>
            <a:off x="4572000" y="1280160"/>
            <a:ext cx="1828800" cy="502920"/>
          </a:xfrm>
          <a:prstGeom prst="rect">
            <a:avLst/>
          </a:prstGeom>
          <a:solidFill>
            <a:schemeClr val="bg1"/>
          </a:solidFill>
          <a:ln w="12700">
            <a:solidFill>
              <a:schemeClr val="tx2"/>
            </a:solidFill>
            <a:prstDash val="solid"/>
          </a:ln>
        </p:spPr>
      </p:sp>
      <p:sp>
        <p:nvSpPr>
          <p:cNvPr id="14" name="Text 11"/>
          <p:cNvSpPr txBox="1"/>
          <p:nvPr/>
        </p:nvSpPr>
        <p:spPr>
          <a:xfrm>
            <a:off x="4608576" y="1280160"/>
            <a:ext cx="1755648" cy="502920"/>
          </a:xfrm>
          <a:prstGeom prst="rect">
            <a:avLst/>
          </a:prstGeom>
          <a:noFill/>
          <a:ln/>
        </p:spPr>
        <p:txBody>
          <a:bodyPr wrap="square" lIns="0" tIns="0" rIns="0" bIns="0" rtlCol="0" anchor="ctr"/>
          <a:lstStyle/>
          <a:p>
            <a:pPr algn="ctr" indent="0" marL="0">
              <a:buNone/>
            </a:pPr>
            <a:r>
              <a:rPr lang="en-US" sz="950" b="1" dirty="0">
                <a:solidFill>
                  <a:schemeClr val="tx1"/>
                </a:solidFill>
              </a:rPr>
              <a:t>Auth Service</a:t>
            </a:r>
            <a:endParaRPr lang="en-US" sz="950" dirty="0"/>
          </a:p>
        </p:txBody>
      </p:sp>
      <p:sp>
        <p:nvSpPr>
          <p:cNvPr id="15" name="node"/>
          <p:cNvSpPr/>
          <p:nvPr/>
        </p:nvSpPr>
        <p:spPr>
          <a:xfrm>
            <a:off x="6949440" y="1280160"/>
            <a:ext cx="1737360" cy="502920"/>
          </a:xfrm>
          <a:prstGeom prst="rect">
            <a:avLst/>
          </a:prstGeom>
          <a:solidFill>
            <a:schemeClr val="bg2"/>
          </a:solidFill>
          <a:ln w="12700">
            <a:solidFill>
              <a:schemeClr val="accent6"/>
            </a:solidFill>
            <a:prstDash val="solid"/>
          </a:ln>
        </p:spPr>
      </p:sp>
      <p:sp>
        <p:nvSpPr>
          <p:cNvPr id="16" name="Text 13"/>
          <p:cNvSpPr txBox="1"/>
          <p:nvPr/>
        </p:nvSpPr>
        <p:spPr>
          <a:xfrm>
            <a:off x="6986016" y="1280160"/>
            <a:ext cx="1664208" cy="502920"/>
          </a:xfrm>
          <a:prstGeom prst="rect">
            <a:avLst/>
          </a:prstGeom>
          <a:noFill/>
          <a:ln/>
        </p:spPr>
        <p:txBody>
          <a:bodyPr wrap="square" lIns="0" tIns="0" rIns="0" bIns="0" rtlCol="0" anchor="ctr"/>
          <a:lstStyle/>
          <a:p>
            <a:pPr algn="ctr" indent="0" marL="0">
              <a:buNone/>
            </a:pPr>
            <a:r>
              <a:rPr lang="en-US" sz="900" dirty="0">
                <a:solidFill>
                  <a:schemeClr val="accent5"/>
                </a:solidFill>
              </a:rPr>
              <a:t>auth: users</a:t>
            </a:r>
            <a:endParaRPr lang="en-US" sz="900" dirty="0"/>
          </a:p>
        </p:txBody>
      </p:sp>
      <p:sp>
        <p:nvSpPr>
          <p:cNvPr id="17" name="Shape 14"/>
          <p:cNvSpPr/>
          <p:nvPr/>
        </p:nvSpPr>
        <p:spPr>
          <a:xfrm>
            <a:off x="6400800" y="1531620"/>
            <a:ext cx="548640" cy="0"/>
          </a:xfrm>
          <a:prstGeom prst="line">
            <a:avLst/>
          </a:prstGeom>
          <a:noFill/>
          <a:ln w="13970">
            <a:solidFill>
              <a:schemeClr val="tx2"/>
            </a:solidFill>
            <a:prstDash val="solid"/>
            <a:tailEnd type="triangle"/>
          </a:ln>
        </p:spPr>
      </p:sp>
      <p:sp>
        <p:nvSpPr>
          <p:cNvPr id="18" name="Shape 15"/>
          <p:cNvSpPr/>
          <p:nvPr/>
        </p:nvSpPr>
        <p:spPr>
          <a:xfrm flipV="1">
            <a:off x="3566160" y="1531620"/>
            <a:ext cx="1005840" cy="1165860"/>
          </a:xfrm>
          <a:prstGeom prst="line">
            <a:avLst/>
          </a:prstGeom>
          <a:noFill/>
          <a:ln w="13970">
            <a:solidFill>
              <a:schemeClr val="tx2"/>
            </a:solidFill>
            <a:prstDash val="solid"/>
            <a:tailEnd type="triangle"/>
          </a:ln>
        </p:spPr>
      </p:sp>
      <p:sp>
        <p:nvSpPr>
          <p:cNvPr id="19" name="node"/>
          <p:cNvSpPr/>
          <p:nvPr/>
        </p:nvSpPr>
        <p:spPr>
          <a:xfrm>
            <a:off x="4572000" y="1938528"/>
            <a:ext cx="1828800" cy="502920"/>
          </a:xfrm>
          <a:prstGeom prst="rect">
            <a:avLst/>
          </a:prstGeom>
          <a:solidFill>
            <a:schemeClr val="bg1"/>
          </a:solidFill>
          <a:ln w="12700">
            <a:solidFill>
              <a:schemeClr val="tx2"/>
            </a:solidFill>
            <a:prstDash val="solid"/>
          </a:ln>
        </p:spPr>
      </p:sp>
      <p:sp>
        <p:nvSpPr>
          <p:cNvPr id="20" name="Text 17"/>
          <p:cNvSpPr txBox="1"/>
          <p:nvPr/>
        </p:nvSpPr>
        <p:spPr>
          <a:xfrm>
            <a:off x="4608576" y="1938528"/>
            <a:ext cx="1755648" cy="502920"/>
          </a:xfrm>
          <a:prstGeom prst="rect">
            <a:avLst/>
          </a:prstGeom>
          <a:noFill/>
          <a:ln/>
        </p:spPr>
        <p:txBody>
          <a:bodyPr wrap="square" lIns="0" tIns="0" rIns="0" bIns="0" rtlCol="0" anchor="ctr"/>
          <a:lstStyle/>
          <a:p>
            <a:pPr algn="ctr" indent="0" marL="0">
              <a:buNone/>
            </a:pPr>
            <a:r>
              <a:rPr lang="en-US" sz="950" b="1" dirty="0">
                <a:solidFill>
                  <a:schemeClr val="tx1"/>
                </a:solidFill>
              </a:rPr>
              <a:t>Equipment Mgmt</a:t>
            </a:r>
            <a:endParaRPr lang="en-US" sz="950" dirty="0"/>
          </a:p>
        </p:txBody>
      </p:sp>
      <p:sp>
        <p:nvSpPr>
          <p:cNvPr id="21" name="node"/>
          <p:cNvSpPr/>
          <p:nvPr/>
        </p:nvSpPr>
        <p:spPr>
          <a:xfrm>
            <a:off x="6949440" y="1938528"/>
            <a:ext cx="1737360" cy="502920"/>
          </a:xfrm>
          <a:prstGeom prst="rect">
            <a:avLst/>
          </a:prstGeom>
          <a:solidFill>
            <a:schemeClr val="bg2"/>
          </a:solidFill>
          <a:ln w="12700">
            <a:solidFill>
              <a:schemeClr val="accent6"/>
            </a:solidFill>
            <a:prstDash val="solid"/>
          </a:ln>
        </p:spPr>
      </p:sp>
      <p:sp>
        <p:nvSpPr>
          <p:cNvPr id="22" name="Text 19"/>
          <p:cNvSpPr txBox="1"/>
          <p:nvPr/>
        </p:nvSpPr>
        <p:spPr>
          <a:xfrm>
            <a:off x="6986016" y="1938528"/>
            <a:ext cx="1664208" cy="502920"/>
          </a:xfrm>
          <a:prstGeom prst="rect">
            <a:avLst/>
          </a:prstGeom>
          <a:noFill/>
          <a:ln/>
        </p:spPr>
        <p:txBody>
          <a:bodyPr wrap="square" lIns="0" tIns="0" rIns="0" bIns="0" rtlCol="0" anchor="ctr"/>
          <a:lstStyle/>
          <a:p>
            <a:pPr algn="ctr" indent="0" marL="0">
              <a:buNone/>
            </a:pPr>
            <a:r>
              <a:rPr lang="en-US" sz="900" dirty="0">
                <a:solidFill>
                  <a:schemeClr val="accent5"/>
                </a:solidFill>
              </a:rPr>
              <a:t>equipment: 6 tables</a:t>
            </a:r>
            <a:endParaRPr lang="en-US" sz="900" dirty="0"/>
          </a:p>
        </p:txBody>
      </p:sp>
      <p:sp>
        <p:nvSpPr>
          <p:cNvPr id="23" name="Shape 20"/>
          <p:cNvSpPr/>
          <p:nvPr/>
        </p:nvSpPr>
        <p:spPr>
          <a:xfrm>
            <a:off x="6400800" y="2189988"/>
            <a:ext cx="548640" cy="0"/>
          </a:xfrm>
          <a:prstGeom prst="line">
            <a:avLst/>
          </a:prstGeom>
          <a:noFill/>
          <a:ln w="13970">
            <a:solidFill>
              <a:schemeClr val="tx2"/>
            </a:solidFill>
            <a:prstDash val="solid"/>
            <a:tailEnd type="triangle"/>
          </a:ln>
        </p:spPr>
      </p:sp>
      <p:sp>
        <p:nvSpPr>
          <p:cNvPr id="24" name="Shape 21"/>
          <p:cNvSpPr/>
          <p:nvPr/>
        </p:nvSpPr>
        <p:spPr>
          <a:xfrm flipV="1">
            <a:off x="3566160" y="2189988"/>
            <a:ext cx="1005840" cy="507492"/>
          </a:xfrm>
          <a:prstGeom prst="line">
            <a:avLst/>
          </a:prstGeom>
          <a:noFill/>
          <a:ln w="13970">
            <a:solidFill>
              <a:schemeClr val="tx2"/>
            </a:solidFill>
            <a:prstDash val="solid"/>
            <a:tailEnd type="triangle"/>
          </a:ln>
        </p:spPr>
      </p:sp>
      <p:sp>
        <p:nvSpPr>
          <p:cNvPr id="25" name="node"/>
          <p:cNvSpPr/>
          <p:nvPr/>
        </p:nvSpPr>
        <p:spPr>
          <a:xfrm>
            <a:off x="4572000" y="2596896"/>
            <a:ext cx="1828800" cy="502920"/>
          </a:xfrm>
          <a:prstGeom prst="rect">
            <a:avLst/>
          </a:prstGeom>
          <a:solidFill>
            <a:schemeClr val="bg1"/>
          </a:solidFill>
          <a:ln w="12700">
            <a:solidFill>
              <a:schemeClr val="tx2"/>
            </a:solidFill>
            <a:prstDash val="solid"/>
          </a:ln>
        </p:spPr>
      </p:sp>
      <p:sp>
        <p:nvSpPr>
          <p:cNvPr id="26" name="Text 23"/>
          <p:cNvSpPr txBox="1"/>
          <p:nvPr/>
        </p:nvSpPr>
        <p:spPr>
          <a:xfrm>
            <a:off x="4608576" y="2596896"/>
            <a:ext cx="1755648" cy="502920"/>
          </a:xfrm>
          <a:prstGeom prst="rect">
            <a:avLst/>
          </a:prstGeom>
          <a:noFill/>
          <a:ln/>
        </p:spPr>
        <p:txBody>
          <a:bodyPr wrap="square" lIns="0" tIns="0" rIns="0" bIns="0" rtlCol="0" anchor="ctr"/>
          <a:lstStyle/>
          <a:p>
            <a:pPr algn="ctr" indent="0" marL="0">
              <a:buNone/>
            </a:pPr>
            <a:r>
              <a:rPr lang="en-US" sz="950" b="1" dirty="0">
                <a:solidFill>
                  <a:schemeClr val="tx1"/>
                </a:solidFill>
              </a:rPr>
              <a:t>Underwriting &amp; Policy</a:t>
            </a:r>
            <a:endParaRPr lang="en-US" sz="950" dirty="0"/>
          </a:p>
        </p:txBody>
      </p:sp>
      <p:sp>
        <p:nvSpPr>
          <p:cNvPr id="27" name="node"/>
          <p:cNvSpPr/>
          <p:nvPr/>
        </p:nvSpPr>
        <p:spPr>
          <a:xfrm>
            <a:off x="6949440" y="2596896"/>
            <a:ext cx="1737360" cy="502920"/>
          </a:xfrm>
          <a:prstGeom prst="rect">
            <a:avLst/>
          </a:prstGeom>
          <a:solidFill>
            <a:schemeClr val="bg2"/>
          </a:solidFill>
          <a:ln w="12700">
            <a:solidFill>
              <a:schemeClr val="accent6"/>
            </a:solidFill>
            <a:prstDash val="solid"/>
          </a:ln>
        </p:spPr>
      </p:sp>
      <p:sp>
        <p:nvSpPr>
          <p:cNvPr id="28" name="Text 25"/>
          <p:cNvSpPr txBox="1"/>
          <p:nvPr/>
        </p:nvSpPr>
        <p:spPr>
          <a:xfrm>
            <a:off x="6986016" y="2596896"/>
            <a:ext cx="1664208" cy="502920"/>
          </a:xfrm>
          <a:prstGeom prst="rect">
            <a:avLst/>
          </a:prstGeom>
          <a:noFill/>
          <a:ln/>
        </p:spPr>
        <p:txBody>
          <a:bodyPr wrap="square" lIns="0" tIns="0" rIns="0" bIns="0" rtlCol="0" anchor="ctr"/>
          <a:lstStyle/>
          <a:p>
            <a:pPr algn="ctr" indent="0" marL="0">
              <a:buNone/>
            </a:pPr>
            <a:r>
              <a:rPr lang="en-US" sz="900" dirty="0">
                <a:solidFill>
                  <a:schemeClr val="accent5"/>
                </a:solidFill>
              </a:rPr>
              <a:t>underwriting: 5 tables</a:t>
            </a:r>
            <a:endParaRPr lang="en-US" sz="900" dirty="0"/>
          </a:p>
        </p:txBody>
      </p:sp>
      <p:sp>
        <p:nvSpPr>
          <p:cNvPr id="29" name="Shape 26"/>
          <p:cNvSpPr/>
          <p:nvPr/>
        </p:nvSpPr>
        <p:spPr>
          <a:xfrm>
            <a:off x="6400800" y="2848356"/>
            <a:ext cx="548640" cy="0"/>
          </a:xfrm>
          <a:prstGeom prst="line">
            <a:avLst/>
          </a:prstGeom>
          <a:noFill/>
          <a:ln w="13970">
            <a:solidFill>
              <a:schemeClr val="tx2"/>
            </a:solidFill>
            <a:prstDash val="solid"/>
            <a:tailEnd type="triangle"/>
          </a:ln>
        </p:spPr>
      </p:sp>
      <p:sp>
        <p:nvSpPr>
          <p:cNvPr id="30" name="Shape 27"/>
          <p:cNvSpPr/>
          <p:nvPr/>
        </p:nvSpPr>
        <p:spPr>
          <a:xfrm>
            <a:off x="3566160" y="2697480"/>
            <a:ext cx="1005840" cy="150876"/>
          </a:xfrm>
          <a:prstGeom prst="line">
            <a:avLst/>
          </a:prstGeom>
          <a:noFill/>
          <a:ln w="13970">
            <a:solidFill>
              <a:schemeClr val="tx2"/>
            </a:solidFill>
            <a:prstDash val="solid"/>
            <a:tailEnd type="triangle"/>
          </a:ln>
        </p:spPr>
      </p:sp>
      <p:sp>
        <p:nvSpPr>
          <p:cNvPr id="31" name="node"/>
          <p:cNvSpPr/>
          <p:nvPr/>
        </p:nvSpPr>
        <p:spPr>
          <a:xfrm>
            <a:off x="4572000" y="3255264"/>
            <a:ext cx="1828800" cy="502920"/>
          </a:xfrm>
          <a:prstGeom prst="rect">
            <a:avLst/>
          </a:prstGeom>
          <a:solidFill>
            <a:schemeClr val="bg1"/>
          </a:solidFill>
          <a:ln w="12700">
            <a:solidFill>
              <a:schemeClr val="tx2"/>
            </a:solidFill>
            <a:prstDash val="solid"/>
          </a:ln>
        </p:spPr>
      </p:sp>
      <p:sp>
        <p:nvSpPr>
          <p:cNvPr id="32" name="Text 29"/>
          <p:cNvSpPr txBox="1"/>
          <p:nvPr/>
        </p:nvSpPr>
        <p:spPr>
          <a:xfrm>
            <a:off x="4608576" y="3255264"/>
            <a:ext cx="1755648" cy="502920"/>
          </a:xfrm>
          <a:prstGeom prst="rect">
            <a:avLst/>
          </a:prstGeom>
          <a:noFill/>
          <a:ln/>
        </p:spPr>
        <p:txBody>
          <a:bodyPr wrap="square" lIns="0" tIns="0" rIns="0" bIns="0" rtlCol="0" anchor="ctr"/>
          <a:lstStyle/>
          <a:p>
            <a:pPr algn="ctr" indent="0" marL="0">
              <a:buNone/>
            </a:pPr>
            <a:r>
              <a:rPr lang="en-US" sz="950" b="1" dirty="0">
                <a:solidFill>
                  <a:schemeClr val="tx1"/>
                </a:solidFill>
              </a:rPr>
              <a:t>Claims Service</a:t>
            </a:r>
            <a:endParaRPr lang="en-US" sz="950" dirty="0"/>
          </a:p>
        </p:txBody>
      </p:sp>
      <p:sp>
        <p:nvSpPr>
          <p:cNvPr id="33" name="node"/>
          <p:cNvSpPr/>
          <p:nvPr/>
        </p:nvSpPr>
        <p:spPr>
          <a:xfrm>
            <a:off x="6949440" y="3255264"/>
            <a:ext cx="1737360" cy="502920"/>
          </a:xfrm>
          <a:prstGeom prst="rect">
            <a:avLst/>
          </a:prstGeom>
          <a:solidFill>
            <a:schemeClr val="bg2"/>
          </a:solidFill>
          <a:ln w="12700">
            <a:solidFill>
              <a:schemeClr val="accent6"/>
            </a:solidFill>
            <a:prstDash val="solid"/>
          </a:ln>
        </p:spPr>
      </p:sp>
      <p:sp>
        <p:nvSpPr>
          <p:cNvPr id="34" name="Text 31"/>
          <p:cNvSpPr txBox="1"/>
          <p:nvPr/>
        </p:nvSpPr>
        <p:spPr>
          <a:xfrm>
            <a:off x="6986016" y="3255264"/>
            <a:ext cx="1664208" cy="502920"/>
          </a:xfrm>
          <a:prstGeom prst="rect">
            <a:avLst/>
          </a:prstGeom>
          <a:noFill/>
          <a:ln/>
        </p:spPr>
        <p:txBody>
          <a:bodyPr wrap="square" lIns="0" tIns="0" rIns="0" bIns="0" rtlCol="0" anchor="ctr"/>
          <a:lstStyle/>
          <a:p>
            <a:pPr algn="ctr" indent="0" marL="0">
              <a:buNone/>
            </a:pPr>
            <a:r>
              <a:rPr lang="en-US" sz="900" dirty="0">
                <a:solidFill>
                  <a:schemeClr val="accent5"/>
                </a:solidFill>
              </a:rPr>
              <a:t>claims: 3 tables</a:t>
            </a:r>
            <a:endParaRPr lang="en-US" sz="900" dirty="0"/>
          </a:p>
        </p:txBody>
      </p:sp>
      <p:sp>
        <p:nvSpPr>
          <p:cNvPr id="35" name="Shape 32"/>
          <p:cNvSpPr/>
          <p:nvPr/>
        </p:nvSpPr>
        <p:spPr>
          <a:xfrm>
            <a:off x="6400800" y="3506724"/>
            <a:ext cx="548640" cy="0"/>
          </a:xfrm>
          <a:prstGeom prst="line">
            <a:avLst/>
          </a:prstGeom>
          <a:noFill/>
          <a:ln w="13970">
            <a:solidFill>
              <a:schemeClr val="tx2"/>
            </a:solidFill>
            <a:prstDash val="solid"/>
            <a:tailEnd type="triangle"/>
          </a:ln>
        </p:spPr>
      </p:sp>
      <p:sp>
        <p:nvSpPr>
          <p:cNvPr id="36" name="Shape 33"/>
          <p:cNvSpPr/>
          <p:nvPr/>
        </p:nvSpPr>
        <p:spPr>
          <a:xfrm>
            <a:off x="3566160" y="2697480"/>
            <a:ext cx="1005840" cy="809244"/>
          </a:xfrm>
          <a:prstGeom prst="line">
            <a:avLst/>
          </a:prstGeom>
          <a:noFill/>
          <a:ln w="13970">
            <a:solidFill>
              <a:schemeClr val="tx2"/>
            </a:solidFill>
            <a:prstDash val="solid"/>
            <a:tailEnd type="triangle"/>
          </a:ln>
        </p:spPr>
      </p:sp>
      <p:sp>
        <p:nvSpPr>
          <p:cNvPr id="37" name="node"/>
          <p:cNvSpPr/>
          <p:nvPr/>
        </p:nvSpPr>
        <p:spPr>
          <a:xfrm>
            <a:off x="4572000" y="3913632"/>
            <a:ext cx="1828800" cy="502920"/>
          </a:xfrm>
          <a:prstGeom prst="rect">
            <a:avLst/>
          </a:prstGeom>
          <a:solidFill>
            <a:schemeClr val="bg1"/>
          </a:solidFill>
          <a:ln w="12700">
            <a:solidFill>
              <a:schemeClr val="tx2"/>
            </a:solidFill>
            <a:prstDash val="solid"/>
          </a:ln>
        </p:spPr>
      </p:sp>
      <p:sp>
        <p:nvSpPr>
          <p:cNvPr id="38" name="Text 35"/>
          <p:cNvSpPr txBox="1"/>
          <p:nvPr/>
        </p:nvSpPr>
        <p:spPr>
          <a:xfrm>
            <a:off x="4608576" y="3913632"/>
            <a:ext cx="1755648" cy="502920"/>
          </a:xfrm>
          <a:prstGeom prst="rect">
            <a:avLst/>
          </a:prstGeom>
          <a:noFill/>
          <a:ln/>
        </p:spPr>
        <p:txBody>
          <a:bodyPr wrap="square" lIns="0" tIns="0" rIns="0" bIns="0" rtlCol="0" anchor="ctr"/>
          <a:lstStyle/>
          <a:p>
            <a:pPr algn="ctr" indent="0" marL="0">
              <a:buNone/>
            </a:pPr>
            <a:r>
              <a:rPr lang="en-US" sz="950" b="1" dirty="0">
                <a:solidFill>
                  <a:schemeClr val="tx1"/>
                </a:solidFill>
              </a:rPr>
              <a:t>Billing &amp; Notification</a:t>
            </a:r>
            <a:endParaRPr lang="en-US" sz="950" dirty="0"/>
          </a:p>
        </p:txBody>
      </p:sp>
      <p:sp>
        <p:nvSpPr>
          <p:cNvPr id="39" name="node"/>
          <p:cNvSpPr/>
          <p:nvPr/>
        </p:nvSpPr>
        <p:spPr>
          <a:xfrm>
            <a:off x="6949440" y="3913632"/>
            <a:ext cx="1737360" cy="502920"/>
          </a:xfrm>
          <a:prstGeom prst="rect">
            <a:avLst/>
          </a:prstGeom>
          <a:solidFill>
            <a:schemeClr val="bg2"/>
          </a:solidFill>
          <a:ln w="12700">
            <a:solidFill>
              <a:schemeClr val="accent6"/>
            </a:solidFill>
            <a:prstDash val="solid"/>
          </a:ln>
        </p:spPr>
      </p:sp>
      <p:sp>
        <p:nvSpPr>
          <p:cNvPr id="40" name="Text 37"/>
          <p:cNvSpPr txBox="1"/>
          <p:nvPr/>
        </p:nvSpPr>
        <p:spPr>
          <a:xfrm>
            <a:off x="6986016" y="3913632"/>
            <a:ext cx="1664208" cy="502920"/>
          </a:xfrm>
          <a:prstGeom prst="rect">
            <a:avLst/>
          </a:prstGeom>
          <a:noFill/>
          <a:ln/>
        </p:spPr>
        <p:txBody>
          <a:bodyPr wrap="square" lIns="0" tIns="0" rIns="0" bIns="0" rtlCol="0" anchor="ctr"/>
          <a:lstStyle/>
          <a:p>
            <a:pPr algn="ctr" indent="0" marL="0">
              <a:buNone/>
            </a:pPr>
            <a:r>
              <a:rPr lang="en-US" sz="900" dirty="0">
                <a:solidFill>
                  <a:schemeClr val="accent5"/>
                </a:solidFill>
              </a:rPr>
              <a:t>billing: 2 tables</a:t>
            </a:r>
            <a:endParaRPr lang="en-US" sz="900" dirty="0"/>
          </a:p>
        </p:txBody>
      </p:sp>
      <p:sp>
        <p:nvSpPr>
          <p:cNvPr id="41" name="Shape 38"/>
          <p:cNvSpPr/>
          <p:nvPr/>
        </p:nvSpPr>
        <p:spPr>
          <a:xfrm>
            <a:off x="6400800" y="4165092"/>
            <a:ext cx="548640" cy="0"/>
          </a:xfrm>
          <a:prstGeom prst="line">
            <a:avLst/>
          </a:prstGeom>
          <a:noFill/>
          <a:ln w="13970">
            <a:solidFill>
              <a:schemeClr val="tx2"/>
            </a:solidFill>
            <a:prstDash val="solid"/>
            <a:tailEnd type="triangle"/>
          </a:ln>
        </p:spPr>
      </p:sp>
      <p:sp>
        <p:nvSpPr>
          <p:cNvPr id="42" name="Shape 39"/>
          <p:cNvSpPr/>
          <p:nvPr/>
        </p:nvSpPr>
        <p:spPr>
          <a:xfrm>
            <a:off x="3566160" y="2697480"/>
            <a:ext cx="1005840" cy="1467612"/>
          </a:xfrm>
          <a:prstGeom prst="line">
            <a:avLst/>
          </a:prstGeom>
          <a:noFill/>
          <a:ln w="13970">
            <a:solidFill>
              <a:schemeClr val="tx2"/>
            </a:solidFill>
            <a:prstDash val="solid"/>
            <a:tailEnd type="triangle"/>
          </a:ln>
        </p:spPr>
      </p:sp>
      <p:sp>
        <p:nvSpPr>
          <p:cNvPr id="43" name="Text 40"/>
          <p:cNvSpPr txBox="1"/>
          <p:nvPr/>
        </p:nvSpPr>
        <p:spPr>
          <a:xfrm>
            <a:off x="457200" y="4069080"/>
            <a:ext cx="4023360" cy="457200"/>
          </a:xfrm>
          <a:prstGeom prst="rect">
            <a:avLst/>
          </a:prstGeom>
          <a:noFill/>
          <a:ln/>
        </p:spPr>
        <p:txBody>
          <a:bodyPr wrap="square" lIns="0" tIns="0" rIns="0" bIns="0" rtlCol="0" anchor="t"/>
          <a:lstStyle/>
          <a:p>
            <a:pPr indent="0" marL="0">
              <a:buNone/>
            </a:pPr>
            <a:r>
              <a:rPr lang="en-US" sz="1000" i="1" dirty="0">
                <a:solidFill>
                  <a:schemeClr val="accent5"/>
                </a:solidFill>
              </a:rPr>
              <a:t>Each service owns its schema; cross-database foreign keys are intentionally not used.</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100" b="1" dirty="0">
                <a:solidFill>
                  <a:schemeClr val="tx2"/>
                </a:solidFill>
                <a:latin typeface="Manrope" pitchFamily="34" charset="0"/>
                <a:ea typeface="Manrope" pitchFamily="34" charset="-122"/>
                <a:cs typeface="Manrope" pitchFamily="34" charset="-120"/>
              </a:rPr>
              <a:t>Services talk over synchronous HTTP with WebClient</a:t>
            </a:r>
            <a:endParaRPr lang="en-US" sz="2100" dirty="0"/>
          </a:p>
        </p:txBody>
      </p:sp>
      <p:sp>
        <p:nvSpPr>
          <p:cNvPr id="4" name="Text 1"/>
          <p:cNvSpPr txBox="1"/>
          <p:nvPr/>
        </p:nvSpPr>
        <p:spPr>
          <a:xfrm>
            <a:off x="457200" y="868680"/>
            <a:ext cx="8229600" cy="274320"/>
          </a:xfrm>
          <a:prstGeom prst="rect">
            <a:avLst/>
          </a:prstGeom>
          <a:noFill/>
          <a:ln/>
        </p:spPr>
        <p:txBody>
          <a:bodyPr wrap="square" lIns="0" tIns="0" rIns="0" bIns="0" rtlCol="0" anchor="t"/>
          <a:lstStyle/>
          <a:p>
            <a:pPr indent="0" marL="0">
              <a:buNone/>
            </a:pPr>
            <a:r>
              <a:rPr lang="en-US" sz="1150" i="1" dirty="0">
                <a:solidFill>
                  <a:schemeClr val="accent5"/>
                </a:solidFill>
              </a:rPr>
              <a:t>Cross-service references are plain IDs; integrity is enforced in application code.</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4754880" cy="914400"/>
        </p:xfrm>
        <a:graphic>
          <a:graphicData uri="http://schemas.openxmlformats.org/drawingml/2006/table">
            <a:tbl>
              <a:tblPr/>
              <a:tblGrid>
                <a:gridCol w="1554480"/>
                <a:gridCol w="1554480"/>
                <a:gridCol w="1645920"/>
              </a:tblGrid>
              <a:tr h="0">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Caller</a:t>
                      </a:r>
                      <a:endParaRPr lang="en-US" sz="9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Callee</a:t>
                      </a:r>
                      <a:endParaRPr lang="en-US" sz="9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Purpose</a:t>
                      </a:r>
                      <a:endParaRPr lang="en-US" sz="9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r>
              <a:tr h="0">
                <a:tc>
                  <a:txBody>
                    <a:bodyPr/>
                    <a:lstStyle/>
                    <a:p>
                      <a:pPr indent="0" marL="0">
                        <a:buNone/>
                      </a:pPr>
                      <a:r>
                        <a:rPr lang="en-US" sz="1050" dirty="0">
                          <a:solidFill>
                            <a:srgbClr val="211E1F"/>
                          </a:solidFill>
                        </a:rPr>
                        <a:t>Claims</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Equipment Management</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Validate company and equipment</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211E1F"/>
                          </a:solidFill>
                        </a:rPr>
                        <a:t>Claims</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Underwriting &amp; Policy</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Validate policy and coverage</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050" dirty="0">
                          <a:solidFill>
                            <a:srgbClr val="211E1F"/>
                          </a:solidFill>
                        </a:rPr>
                        <a:t>Claims</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Billing &amp; Notification</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Claim payments, notifications</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211E1F"/>
                          </a:solidFill>
                        </a:rPr>
                        <a:t>Underwriting &amp; Policy</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Billing &amp; Notification</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Create invoice; read payment status</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050" dirty="0">
                          <a:solidFill>
                            <a:srgbClr val="211E1F"/>
                          </a:solidFill>
                        </a:rPr>
                        <a:t>Underwriting &amp; Policy</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Equipment Management</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Validate company and equipment</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211E1F"/>
                          </a:solidFill>
                        </a:rPr>
                        <a:t>Auth</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Notification</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Send account notifications</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bl>
          </a:graphicData>
        </a:graphic>
      </p:graphicFrame>
      <p:sp>
        <p:nvSpPr>
          <p:cNvPr id="6" name="Shape 2"/>
          <p:cNvSpPr/>
          <p:nvPr/>
        </p:nvSpPr>
        <p:spPr>
          <a:xfrm>
            <a:off x="5440680" y="1280160"/>
            <a:ext cx="3246120" cy="1463040"/>
          </a:xfrm>
          <a:prstGeom prst="rect">
            <a:avLst/>
          </a:prstGeom>
          <a:solidFill>
            <a:schemeClr val="bg1"/>
          </a:solidFill>
          <a:ln w="9525">
            <a:solidFill>
              <a:schemeClr val="accent6"/>
            </a:solidFill>
            <a:prstDash val="solid"/>
          </a:ln>
        </p:spPr>
      </p:sp>
      <p:sp>
        <p:nvSpPr>
          <p:cNvPr id="7" name="Shape 3"/>
          <p:cNvSpPr/>
          <p:nvPr/>
        </p:nvSpPr>
        <p:spPr>
          <a:xfrm>
            <a:off x="5440680" y="1280160"/>
            <a:ext cx="45720" cy="1463040"/>
          </a:xfrm>
          <a:prstGeom prst="rect">
            <a:avLst/>
          </a:prstGeom>
          <a:solidFill>
            <a:schemeClr val="accent2"/>
          </a:solidFill>
          <a:ln w="12700">
            <a:solidFill>
              <a:schemeClr val="accent2"/>
            </a:solidFill>
            <a:prstDash val="solid"/>
          </a:ln>
        </p:spPr>
      </p:sp>
      <p:sp>
        <p:nvSpPr>
          <p:cNvPr id="8" name="Text 4"/>
          <p:cNvSpPr txBox="1"/>
          <p:nvPr/>
        </p:nvSpPr>
        <p:spPr>
          <a:xfrm>
            <a:off x="5605272" y="1371600"/>
            <a:ext cx="2971800" cy="256032"/>
          </a:xfrm>
          <a:prstGeom prst="rect">
            <a:avLst/>
          </a:prstGeom>
          <a:noFill/>
          <a:ln/>
        </p:spPr>
        <p:txBody>
          <a:bodyPr wrap="square" lIns="0" tIns="0" rIns="0" bIns="0" rtlCol="0" anchor="t"/>
          <a:lstStyle/>
          <a:p>
            <a:pPr indent="0" marL="0">
              <a:buNone/>
            </a:pPr>
            <a:r>
              <a:rPr lang="en-US" sz="1100" b="1" dirty="0">
                <a:solidFill>
                  <a:schemeClr val="tx2"/>
                </a:solidFill>
                <a:latin typeface="Manrope" pitchFamily="34" charset="0"/>
                <a:ea typeface="Manrope" pitchFamily="34" charset="-122"/>
                <a:cs typeface="Manrope" pitchFamily="34" charset="-120"/>
              </a:rPr>
              <a:t>Conventions</a:t>
            </a:r>
            <a:endParaRPr lang="en-US" sz="1100" dirty="0"/>
          </a:p>
        </p:txBody>
      </p:sp>
      <p:sp>
        <p:nvSpPr>
          <p:cNvPr id="9" name="Text 5"/>
          <p:cNvSpPr txBox="1"/>
          <p:nvPr/>
        </p:nvSpPr>
        <p:spPr>
          <a:xfrm>
            <a:off x="5605272" y="1664208"/>
            <a:ext cx="2971800" cy="10058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chemeClr val="tx1"/>
                </a:solidFill>
              </a:rPr>
              <a:t>/api/v1 public API; /internal/v1 service-to-service</a:t>
            </a:r>
            <a:endParaRPr lang="en-US" sz="1050" dirty="0"/>
          </a:p>
          <a:p>
            <a:pPr marL="152400" indent="-152400">
              <a:spcAft>
                <a:spcPts val="500"/>
              </a:spcAft>
              <a:buSzPct val="100000"/>
              <a:buChar char="•"/>
            </a:pPr>
            <a:r>
              <a:rPr lang="en-US" sz="1050" dirty="0">
                <a:solidFill>
                  <a:schemeClr val="tx1"/>
                </a:solidFill>
              </a:rPr>
              <a:t>/api/v1/admin for ADMIN only</a:t>
            </a:r>
            <a:endParaRPr lang="en-US" sz="1050" dirty="0"/>
          </a:p>
          <a:p>
            <a:pPr marL="152400" indent="-152400">
              <a:spcAft>
                <a:spcPts val="500"/>
              </a:spcAft>
              <a:buSzPct val="100000"/>
              <a:buChar char="•"/>
            </a:pPr>
            <a:r>
              <a:rPr lang="en-US" sz="1050" dirty="0">
                <a:solidFill>
                  <a:schemeClr val="tx1"/>
                </a:solidFill>
              </a:rPr>
              <a:t>X-Correlation-ID header on all services</a:t>
            </a:r>
            <a:endParaRPr lang="en-US" sz="1050" dirty="0"/>
          </a:p>
        </p:txBody>
      </p:sp>
      <p:sp>
        <p:nvSpPr>
          <p:cNvPr id="10" name="Shape 6"/>
          <p:cNvSpPr/>
          <p:nvPr/>
        </p:nvSpPr>
        <p:spPr>
          <a:xfrm>
            <a:off x="5440680" y="2880360"/>
            <a:ext cx="3246120" cy="1600200"/>
          </a:xfrm>
          <a:prstGeom prst="rect">
            <a:avLst/>
          </a:prstGeom>
          <a:solidFill>
            <a:schemeClr val="bg1"/>
          </a:solidFill>
          <a:ln w="9525">
            <a:solidFill>
              <a:schemeClr val="accent6"/>
            </a:solidFill>
            <a:prstDash val="solid"/>
          </a:ln>
        </p:spPr>
      </p:sp>
      <p:sp>
        <p:nvSpPr>
          <p:cNvPr id="11" name="Shape 7"/>
          <p:cNvSpPr/>
          <p:nvPr/>
        </p:nvSpPr>
        <p:spPr>
          <a:xfrm>
            <a:off x="5440680" y="2880360"/>
            <a:ext cx="45720" cy="1600200"/>
          </a:xfrm>
          <a:prstGeom prst="rect">
            <a:avLst/>
          </a:prstGeom>
          <a:solidFill>
            <a:schemeClr val="accent4"/>
          </a:solidFill>
          <a:ln w="12700">
            <a:solidFill>
              <a:schemeClr val="accent4"/>
            </a:solidFill>
            <a:prstDash val="solid"/>
          </a:ln>
        </p:spPr>
      </p:sp>
      <p:sp>
        <p:nvSpPr>
          <p:cNvPr id="12" name="Text 8"/>
          <p:cNvSpPr txBox="1"/>
          <p:nvPr/>
        </p:nvSpPr>
        <p:spPr>
          <a:xfrm>
            <a:off x="5605272" y="2971800"/>
            <a:ext cx="2971800" cy="256032"/>
          </a:xfrm>
          <a:prstGeom prst="rect">
            <a:avLst/>
          </a:prstGeom>
          <a:noFill/>
          <a:ln/>
        </p:spPr>
        <p:txBody>
          <a:bodyPr wrap="square" lIns="0" tIns="0" rIns="0" bIns="0" rtlCol="0" anchor="t"/>
          <a:lstStyle/>
          <a:p>
            <a:pPr indent="0" marL="0">
              <a:buNone/>
            </a:pPr>
            <a:r>
              <a:rPr lang="en-US" sz="1100" b="1" dirty="0">
                <a:solidFill>
                  <a:schemeClr val="tx2"/>
                </a:solidFill>
                <a:latin typeface="Manrope" pitchFamily="34" charset="0"/>
                <a:ea typeface="Manrope" pitchFamily="34" charset="-122"/>
                <a:cs typeface="Manrope" pitchFamily="34" charset="-120"/>
              </a:rPr>
              <a:t>Known gap</a:t>
            </a:r>
            <a:endParaRPr lang="en-US" sz="1100" dirty="0"/>
          </a:p>
        </p:txBody>
      </p:sp>
      <p:sp>
        <p:nvSpPr>
          <p:cNvPr id="13" name="Text 9"/>
          <p:cNvSpPr txBox="1"/>
          <p:nvPr/>
        </p:nvSpPr>
        <p:spPr>
          <a:xfrm>
            <a:off x="5605272" y="3264408"/>
            <a:ext cx="2971800" cy="114300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chemeClr val="tx1"/>
                </a:solidFill>
              </a:rPr>
              <a:t>No retry, timeout or circuit breaker on WebClient calls</a:t>
            </a:r>
            <a:endParaRPr lang="en-US" sz="1050" dirty="0"/>
          </a:p>
          <a:p>
            <a:pPr marL="152400" indent="-152400">
              <a:spcAft>
                <a:spcPts val="500"/>
              </a:spcAft>
              <a:buSzPct val="100000"/>
              <a:buChar char="•"/>
            </a:pPr>
            <a:r>
              <a:rPr lang="en-US" sz="1050" dirty="0">
                <a:solidFill>
                  <a:schemeClr val="tx1"/>
                </a:solidFill>
              </a:rPr>
              <a:t>Mixed load-balanced and hard-coded host names</a:t>
            </a:r>
            <a:endParaRPr lang="en-US" sz="105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100" b="1" dirty="0">
                <a:solidFill>
                  <a:schemeClr val="tx2"/>
                </a:solidFill>
                <a:latin typeface="Manrope" pitchFamily="34" charset="0"/>
                <a:ea typeface="Manrope" pitchFamily="34" charset="-122"/>
                <a:cs typeface="Manrope" pitchFamily="34" charset="-120"/>
              </a:rPr>
              <a:t>Angular frontend is organised by feature, core and state</a:t>
            </a:r>
            <a:endParaRPr lang="en-US" sz="2100" dirty="0"/>
          </a:p>
        </p:txBody>
      </p:sp>
      <p:sp>
        <p:nvSpPr>
          <p:cNvPr id="4" name="Text 1"/>
          <p:cNvSpPr txBox="1"/>
          <p:nvPr/>
        </p:nvSpPr>
        <p:spPr>
          <a:xfrm>
            <a:off x="457200" y="868680"/>
            <a:ext cx="8229600" cy="274320"/>
          </a:xfrm>
          <a:prstGeom prst="rect">
            <a:avLst/>
          </a:prstGeom>
          <a:noFill/>
          <a:ln/>
        </p:spPr>
        <p:txBody>
          <a:bodyPr wrap="square" lIns="0" tIns="0" rIns="0" bIns="0" rtlCol="0" anchor="t"/>
          <a:lstStyle/>
          <a:p>
            <a:pPr indent="0" marL="0">
              <a:buNone/>
            </a:pPr>
            <a:r>
              <a:rPr lang="en-US" sz="1150" i="1" dirty="0">
                <a:solidFill>
                  <a:schemeClr val="accent5"/>
                </a:solidFill>
              </a:rPr>
              <a:t>Role-based feature folders on a shared core and facade-based state.</a:t>
            </a:r>
            <a:endParaRPr lang="en-US" sz="1150" dirty="0"/>
          </a:p>
        </p:txBody>
      </p:sp>
      <p:sp>
        <p:nvSpPr>
          <p:cNvPr id="5" name="Shape 2"/>
          <p:cNvSpPr/>
          <p:nvPr/>
        </p:nvSpPr>
        <p:spPr>
          <a:xfrm>
            <a:off x="457200" y="1280160"/>
            <a:ext cx="2560320" cy="3200400"/>
          </a:xfrm>
          <a:prstGeom prst="rect">
            <a:avLst/>
          </a:prstGeom>
          <a:solidFill>
            <a:schemeClr val="bg1"/>
          </a:solidFill>
          <a:ln w="9525">
            <a:solidFill>
              <a:schemeClr val="accent6"/>
            </a:solidFill>
            <a:prstDash val="solid"/>
          </a:ln>
        </p:spPr>
      </p:sp>
      <p:sp>
        <p:nvSpPr>
          <p:cNvPr id="6" name="Shape 3"/>
          <p:cNvSpPr/>
          <p:nvPr/>
        </p:nvSpPr>
        <p:spPr>
          <a:xfrm>
            <a:off x="457200" y="1280160"/>
            <a:ext cx="45720" cy="3200400"/>
          </a:xfrm>
          <a:prstGeom prst="rect">
            <a:avLst/>
          </a:prstGeom>
          <a:solidFill>
            <a:schemeClr val="accent2"/>
          </a:solidFill>
          <a:ln w="12700">
            <a:solidFill>
              <a:schemeClr val="accent2"/>
            </a:solidFill>
            <a:prstDash val="solid"/>
          </a:ln>
        </p:spPr>
      </p:sp>
      <p:sp>
        <p:nvSpPr>
          <p:cNvPr id="7" name="Text 4"/>
          <p:cNvSpPr txBox="1"/>
          <p:nvPr/>
        </p:nvSpPr>
        <p:spPr>
          <a:xfrm>
            <a:off x="621792" y="1371600"/>
            <a:ext cx="2286000" cy="256032"/>
          </a:xfrm>
          <a:prstGeom prst="rect">
            <a:avLst/>
          </a:prstGeom>
          <a:noFill/>
          <a:ln/>
        </p:spPr>
        <p:txBody>
          <a:bodyPr wrap="square" lIns="0" tIns="0" rIns="0" bIns="0" rtlCol="0" anchor="t"/>
          <a:lstStyle/>
          <a:p>
            <a:pPr indent="0" marL="0">
              <a:buNone/>
            </a:pPr>
            <a:r>
              <a:rPr lang="en-US" sz="1150" b="1" dirty="0">
                <a:solidFill>
                  <a:schemeClr val="tx2"/>
                </a:solidFill>
                <a:latin typeface="Manrope" pitchFamily="34" charset="0"/>
                <a:ea typeface="Manrope" pitchFamily="34" charset="-122"/>
                <a:cs typeface="Manrope" pitchFamily="34" charset="-120"/>
              </a:rPr>
              <a:t>features/ (205 files)</a:t>
            </a:r>
            <a:endParaRPr lang="en-US" sz="1150" dirty="0"/>
          </a:p>
        </p:txBody>
      </p:sp>
      <p:sp>
        <p:nvSpPr>
          <p:cNvPr id="8" name="Text 5"/>
          <p:cNvSpPr txBox="1"/>
          <p:nvPr/>
        </p:nvSpPr>
        <p:spPr>
          <a:xfrm>
            <a:off x="621792" y="1664208"/>
            <a:ext cx="2286000" cy="274320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chemeClr val="tx1"/>
                </a:solidFill>
              </a:rPr>
              <a:t>customer, admin</a:t>
            </a:r>
            <a:endParaRPr lang="en-US" sz="1100" dirty="0"/>
          </a:p>
          <a:p>
            <a:pPr marL="152400" indent="-152400">
              <a:spcAft>
                <a:spcPts val="500"/>
              </a:spcAft>
              <a:buSzPct val="100000"/>
              <a:buChar char="•"/>
            </a:pPr>
            <a:r>
              <a:rPr lang="en-US" sz="1100" dirty="0">
                <a:solidFill>
                  <a:schemeClr val="tx1"/>
                </a:solidFill>
              </a:rPr>
              <a:t>policy-officer, underwriting</a:t>
            </a:r>
            <a:endParaRPr lang="en-US" sz="1100" dirty="0"/>
          </a:p>
          <a:p>
            <a:pPr marL="152400" indent="-152400">
              <a:spcAft>
                <a:spcPts val="500"/>
              </a:spcAft>
              <a:buSzPct val="100000"/>
              <a:buChar char="•"/>
            </a:pPr>
            <a:r>
              <a:rPr lang="en-US" sz="1100" dirty="0">
                <a:solidFill>
                  <a:schemeClr val="tx1"/>
                </a:solidFill>
              </a:rPr>
              <a:t>claims-officer, auth</a:t>
            </a:r>
            <a:endParaRPr lang="en-US" sz="1100" dirty="0"/>
          </a:p>
          <a:p>
            <a:pPr marL="152400" indent="-152400">
              <a:spcAft>
                <a:spcPts val="500"/>
              </a:spcAft>
              <a:buSzPct val="100000"/>
              <a:buChar char="•"/>
            </a:pPr>
            <a:r>
              <a:rPr lang="en-US" sz="1100" dirty="0">
                <a:solidFill>
                  <a:schemeClr val="tx1"/>
                </a:solidFill>
              </a:rPr>
              <a:t>errors (forbidden, not-found)</a:t>
            </a:r>
            <a:endParaRPr lang="en-US" sz="1100" dirty="0"/>
          </a:p>
        </p:txBody>
      </p:sp>
      <p:sp>
        <p:nvSpPr>
          <p:cNvPr id="9" name="Shape 6"/>
          <p:cNvSpPr/>
          <p:nvPr/>
        </p:nvSpPr>
        <p:spPr>
          <a:xfrm>
            <a:off x="3154680" y="1280160"/>
            <a:ext cx="2560320" cy="3200400"/>
          </a:xfrm>
          <a:prstGeom prst="rect">
            <a:avLst/>
          </a:prstGeom>
          <a:solidFill>
            <a:schemeClr val="bg1"/>
          </a:solidFill>
          <a:ln w="9525">
            <a:solidFill>
              <a:schemeClr val="accent6"/>
            </a:solidFill>
            <a:prstDash val="solid"/>
          </a:ln>
        </p:spPr>
      </p:sp>
      <p:sp>
        <p:nvSpPr>
          <p:cNvPr id="10" name="Shape 7"/>
          <p:cNvSpPr/>
          <p:nvPr/>
        </p:nvSpPr>
        <p:spPr>
          <a:xfrm>
            <a:off x="3154680" y="1280160"/>
            <a:ext cx="45720" cy="3200400"/>
          </a:xfrm>
          <a:prstGeom prst="rect">
            <a:avLst/>
          </a:prstGeom>
          <a:solidFill>
            <a:schemeClr val="accent3"/>
          </a:solidFill>
          <a:ln w="12700">
            <a:solidFill>
              <a:schemeClr val="accent3"/>
            </a:solidFill>
            <a:prstDash val="solid"/>
          </a:ln>
        </p:spPr>
      </p:sp>
      <p:sp>
        <p:nvSpPr>
          <p:cNvPr id="11" name="Text 8"/>
          <p:cNvSpPr txBox="1"/>
          <p:nvPr/>
        </p:nvSpPr>
        <p:spPr>
          <a:xfrm>
            <a:off x="3319272" y="1371600"/>
            <a:ext cx="2286000" cy="256032"/>
          </a:xfrm>
          <a:prstGeom prst="rect">
            <a:avLst/>
          </a:prstGeom>
          <a:noFill/>
          <a:ln/>
        </p:spPr>
        <p:txBody>
          <a:bodyPr wrap="square" lIns="0" tIns="0" rIns="0" bIns="0" rtlCol="0" anchor="t"/>
          <a:lstStyle/>
          <a:p>
            <a:pPr indent="0" marL="0">
              <a:buNone/>
            </a:pPr>
            <a:r>
              <a:rPr lang="en-US" sz="1150" b="1" dirty="0">
                <a:solidFill>
                  <a:schemeClr val="tx2"/>
                </a:solidFill>
                <a:latin typeface="Manrope" pitchFamily="34" charset="0"/>
                <a:ea typeface="Manrope" pitchFamily="34" charset="-122"/>
                <a:cs typeface="Manrope" pitchFamily="34" charset="-120"/>
              </a:rPr>
              <a:t>core/ (133 files)</a:t>
            </a:r>
            <a:endParaRPr lang="en-US" sz="1150" dirty="0"/>
          </a:p>
        </p:txBody>
      </p:sp>
      <p:sp>
        <p:nvSpPr>
          <p:cNvPr id="12" name="Text 9"/>
          <p:cNvSpPr txBox="1"/>
          <p:nvPr/>
        </p:nvSpPr>
        <p:spPr>
          <a:xfrm>
            <a:off x="3319272" y="1664208"/>
            <a:ext cx="2286000" cy="274320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chemeClr val="tx1"/>
                </a:solidFill>
              </a:rPr>
              <a:t>*.api.ts clients (20)</a:t>
            </a:r>
            <a:endParaRPr lang="en-US" sz="1100" dirty="0"/>
          </a:p>
          <a:p>
            <a:pPr marL="152400" indent="-152400">
              <a:spcAft>
                <a:spcPts val="500"/>
              </a:spcAft>
              <a:buSzPct val="100000"/>
              <a:buChar char="•"/>
            </a:pPr>
            <a:r>
              <a:rPr lang="en-US" sz="1100" dirty="0">
                <a:solidFill>
                  <a:schemeClr val="tx1"/>
                </a:solidFill>
              </a:rPr>
              <a:t>auth, guards</a:t>
            </a:r>
            <a:endParaRPr lang="en-US" sz="1100" dirty="0"/>
          </a:p>
          <a:p>
            <a:pPr marL="152400" indent="-152400">
              <a:spcAft>
                <a:spcPts val="500"/>
              </a:spcAft>
              <a:buSzPct val="100000"/>
              <a:buChar char="•"/>
            </a:pPr>
            <a:r>
              <a:rPr lang="en-US" sz="1100" dirty="0">
                <a:solidFill>
                  <a:schemeClr val="tx1"/>
                </a:solidFill>
              </a:rPr>
              <a:t>interceptors: auth, api-url, correlation-id, request-timeout, api-error</a:t>
            </a:r>
            <a:endParaRPr lang="en-US" sz="1100" dirty="0"/>
          </a:p>
          <a:p>
            <a:pPr marL="152400" indent="-152400">
              <a:spcAft>
                <a:spcPts val="500"/>
              </a:spcAft>
              <a:buSzPct val="100000"/>
              <a:buChar char="•"/>
            </a:pPr>
            <a:r>
              <a:rPr lang="en-US" sz="1100" dirty="0">
                <a:solidFill>
                  <a:schemeClr val="tx1"/>
                </a:solidFill>
              </a:rPr>
              <a:t>models mirroring DTOs</a:t>
            </a:r>
            <a:endParaRPr lang="en-US" sz="1100" dirty="0"/>
          </a:p>
        </p:txBody>
      </p:sp>
      <p:sp>
        <p:nvSpPr>
          <p:cNvPr id="13" name="Shape 10"/>
          <p:cNvSpPr/>
          <p:nvPr/>
        </p:nvSpPr>
        <p:spPr>
          <a:xfrm>
            <a:off x="5852160" y="1280160"/>
            <a:ext cx="2834640" cy="3200400"/>
          </a:xfrm>
          <a:prstGeom prst="rect">
            <a:avLst/>
          </a:prstGeom>
          <a:solidFill>
            <a:schemeClr val="bg1"/>
          </a:solidFill>
          <a:ln w="9525">
            <a:solidFill>
              <a:schemeClr val="accent6"/>
            </a:solidFill>
            <a:prstDash val="solid"/>
          </a:ln>
        </p:spPr>
      </p:sp>
      <p:sp>
        <p:nvSpPr>
          <p:cNvPr id="14" name="Shape 11"/>
          <p:cNvSpPr/>
          <p:nvPr/>
        </p:nvSpPr>
        <p:spPr>
          <a:xfrm>
            <a:off x="5852160" y="1280160"/>
            <a:ext cx="45720" cy="3200400"/>
          </a:xfrm>
          <a:prstGeom prst="rect">
            <a:avLst/>
          </a:prstGeom>
          <a:solidFill>
            <a:schemeClr val="accent5"/>
          </a:solidFill>
          <a:ln w="12700">
            <a:solidFill>
              <a:schemeClr val="accent5"/>
            </a:solidFill>
            <a:prstDash val="solid"/>
          </a:ln>
        </p:spPr>
      </p:sp>
      <p:sp>
        <p:nvSpPr>
          <p:cNvPr id="15" name="Text 12"/>
          <p:cNvSpPr txBox="1"/>
          <p:nvPr/>
        </p:nvSpPr>
        <p:spPr>
          <a:xfrm>
            <a:off x="6016752" y="1371600"/>
            <a:ext cx="2560320" cy="256032"/>
          </a:xfrm>
          <a:prstGeom prst="rect">
            <a:avLst/>
          </a:prstGeom>
          <a:noFill/>
          <a:ln/>
        </p:spPr>
        <p:txBody>
          <a:bodyPr wrap="square" lIns="0" tIns="0" rIns="0" bIns="0" rtlCol="0" anchor="t"/>
          <a:lstStyle/>
          <a:p>
            <a:pPr indent="0" marL="0">
              <a:buNone/>
            </a:pPr>
            <a:r>
              <a:rPr lang="en-US" sz="1150" b="1" dirty="0">
                <a:solidFill>
                  <a:schemeClr val="tx2"/>
                </a:solidFill>
                <a:latin typeface="Manrope" pitchFamily="34" charset="0"/>
                <a:ea typeface="Manrope" pitchFamily="34" charset="-122"/>
                <a:cs typeface="Manrope" pitchFamily="34" charset="-120"/>
              </a:rPr>
              <a:t>state/ (101 files)</a:t>
            </a:r>
            <a:endParaRPr lang="en-US" sz="1150" dirty="0"/>
          </a:p>
        </p:txBody>
      </p:sp>
      <p:sp>
        <p:nvSpPr>
          <p:cNvPr id="16" name="Text 13"/>
          <p:cNvSpPr txBox="1"/>
          <p:nvPr/>
        </p:nvSpPr>
        <p:spPr>
          <a:xfrm>
            <a:off x="6016752" y="1664208"/>
            <a:ext cx="2560320" cy="274320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chemeClr val="tx1"/>
                </a:solidFill>
              </a:rPr>
              <a:t>Facades per area: auth, quote, policy, invoice, equipment, operator, renewal, notification ...</a:t>
            </a:r>
            <a:endParaRPr lang="en-US" sz="1100" dirty="0"/>
          </a:p>
          <a:p>
            <a:pPr marL="152400" indent="-152400">
              <a:spcAft>
                <a:spcPts val="500"/>
              </a:spcAft>
              <a:buSzPct val="100000"/>
              <a:buChar char="•"/>
            </a:pPr>
            <a:r>
              <a:rPr lang="en-US" sz="1100" dirty="0">
                <a:solidFill>
                  <a:schemeClr val="tx1"/>
                </a:solidFill>
              </a:rPr>
              <a:t>Angular signals for state</a:t>
            </a:r>
            <a:endParaRPr lang="en-US" sz="1100" dirty="0"/>
          </a:p>
          <a:p>
            <a:pPr marL="152400" indent="-152400">
              <a:spcAft>
                <a:spcPts val="500"/>
              </a:spcAft>
              <a:buSzPct val="100000"/>
              <a:buChar char="•"/>
            </a:pPr>
            <a:r>
              <a:rPr lang="en-US" sz="1100" dirty="0">
                <a:solidFill>
                  <a:schemeClr val="tx1"/>
                </a:solidFill>
              </a:rPr>
              <a:t>shared/ui: reusable components</a:t>
            </a:r>
            <a:endParaRPr lang="en-US" sz="11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100" b="1" dirty="0">
                <a:solidFill>
                  <a:schemeClr val="tx2"/>
                </a:solidFill>
                <a:latin typeface="Manrope" pitchFamily="34" charset="0"/>
                <a:ea typeface="Manrope" pitchFamily="34" charset="-122"/>
                <a:cs typeface="Manrope" pitchFamily="34" charset="-120"/>
              </a:rPr>
              <a:t>Role-aware routing, guards and runtime configuration</a:t>
            </a:r>
            <a:endParaRPr lang="en-US" sz="2100" dirty="0"/>
          </a:p>
        </p:txBody>
      </p:sp>
      <p:sp>
        <p:nvSpPr>
          <p:cNvPr id="4" name="Text 1"/>
          <p:cNvSpPr txBox="1"/>
          <p:nvPr/>
        </p:nvSpPr>
        <p:spPr>
          <a:xfrm>
            <a:off x="457200" y="868680"/>
            <a:ext cx="8229600" cy="274320"/>
          </a:xfrm>
          <a:prstGeom prst="rect">
            <a:avLst/>
          </a:prstGeom>
          <a:noFill/>
          <a:ln/>
        </p:spPr>
        <p:txBody>
          <a:bodyPr wrap="square" lIns="0" tIns="0" rIns="0" bIns="0" rtlCol="0" anchor="t"/>
          <a:lstStyle/>
          <a:p>
            <a:pPr indent="0" marL="0">
              <a:buNone/>
            </a:pPr>
            <a:r>
              <a:rPr lang="en-US" sz="1150" i="1" dirty="0">
                <a:solidFill>
                  <a:schemeClr val="accent5"/>
                </a:solidFill>
              </a:rPr>
              <a:t>Public auth routes, then guarded /app routes split by role.</a:t>
            </a:r>
            <a:endParaRPr lang="en-US" sz="1150" dirty="0"/>
          </a:p>
        </p:txBody>
      </p:sp>
      <p:sp>
        <p:nvSpPr>
          <p:cNvPr id="5" name="node"/>
          <p:cNvSpPr/>
          <p:nvPr/>
        </p:nvSpPr>
        <p:spPr>
          <a:xfrm>
            <a:off x="457200" y="1371600"/>
            <a:ext cx="1554480" cy="640080"/>
          </a:xfrm>
          <a:prstGeom prst="rect">
            <a:avLst/>
          </a:prstGeom>
          <a:solidFill>
            <a:schemeClr val="bg1"/>
          </a:solidFill>
          <a:ln w="12700">
            <a:solidFill>
              <a:schemeClr val="tx2"/>
            </a:solidFill>
            <a:prstDash val="solid"/>
          </a:ln>
        </p:spPr>
      </p:sp>
      <p:sp>
        <p:nvSpPr>
          <p:cNvPr id="6" name="Text 3"/>
          <p:cNvSpPr txBox="1"/>
          <p:nvPr/>
        </p:nvSpPr>
        <p:spPr>
          <a:xfrm>
            <a:off x="493776" y="1371600"/>
            <a:ext cx="1481328" cy="640080"/>
          </a:xfrm>
          <a:prstGeom prst="rect">
            <a:avLst/>
          </a:prstGeom>
          <a:noFill/>
          <a:ln/>
        </p:spPr>
        <p:txBody>
          <a:bodyPr wrap="square" lIns="0" tIns="0" rIns="0" bIns="0" rtlCol="0" anchor="ctr"/>
          <a:lstStyle/>
          <a:p>
            <a:pPr algn="ctr" indent="0" marL="0">
              <a:buNone/>
            </a:pPr>
            <a:r>
              <a:rPr lang="en-US" sz="900" dirty="0">
                <a:solidFill>
                  <a:schemeClr val="tx1"/>
                </a:solidFill>
              </a:rPr>
              <a:t>/auth</a:t>
            </a:r>
            <a:endParaRPr lang="en-US" sz="900" dirty="0"/>
          </a:p>
          <a:p>
            <a:pPr algn="ctr" indent="0" marL="0">
              <a:buNone/>
            </a:pPr>
            <a:r>
              <a:rPr lang="en-US" sz="900" dirty="0">
                <a:solidFill>
                  <a:schemeClr val="tx1"/>
                </a:solidFill>
              </a:rPr>
              <a:t>login, register, change-password</a:t>
            </a:r>
            <a:endParaRPr lang="en-US" sz="900" dirty="0"/>
          </a:p>
        </p:txBody>
      </p:sp>
      <p:sp>
        <p:nvSpPr>
          <p:cNvPr id="7" name="node"/>
          <p:cNvSpPr/>
          <p:nvPr/>
        </p:nvSpPr>
        <p:spPr>
          <a:xfrm>
            <a:off x="2468880" y="1371600"/>
            <a:ext cx="1554480" cy="640080"/>
          </a:xfrm>
          <a:prstGeom prst="rect">
            <a:avLst/>
          </a:prstGeom>
          <a:solidFill>
            <a:schemeClr val="tx2"/>
          </a:solidFill>
          <a:ln w="12700">
            <a:solidFill>
              <a:schemeClr val="tx2"/>
            </a:solidFill>
            <a:prstDash val="solid"/>
          </a:ln>
        </p:spPr>
      </p:sp>
      <p:sp>
        <p:nvSpPr>
          <p:cNvPr id="8" name="Text 5"/>
          <p:cNvSpPr txBox="1"/>
          <p:nvPr/>
        </p:nvSpPr>
        <p:spPr>
          <a:xfrm>
            <a:off x="2505456" y="1371600"/>
            <a:ext cx="1481328" cy="640080"/>
          </a:xfrm>
          <a:prstGeom prst="rect">
            <a:avLst/>
          </a:prstGeom>
          <a:noFill/>
          <a:ln/>
        </p:spPr>
        <p:txBody>
          <a:bodyPr wrap="square" lIns="0" tIns="0" rIns="0" bIns="0" rtlCol="0" anchor="ctr"/>
          <a:lstStyle/>
          <a:p>
            <a:pPr algn="ctr" indent="0" marL="0">
              <a:buNone/>
            </a:pPr>
            <a:r>
              <a:rPr lang="en-US" sz="900" dirty="0">
                <a:solidFill>
                  <a:schemeClr val="bg1"/>
                </a:solidFill>
              </a:rPr>
              <a:t>/app</a:t>
            </a:r>
            <a:endParaRPr lang="en-US" sz="900" dirty="0"/>
          </a:p>
          <a:p>
            <a:pPr algn="ctr" indent="0" marL="0">
              <a:buNone/>
            </a:pPr>
            <a:r>
              <a:rPr lang="en-US" sz="900" dirty="0">
                <a:solidFill>
                  <a:schemeClr val="bg1"/>
                </a:solidFill>
              </a:rPr>
              <a:t>authGuard + password-change guards</a:t>
            </a:r>
            <a:endParaRPr lang="en-US" sz="900" dirty="0"/>
          </a:p>
        </p:txBody>
      </p:sp>
      <p:sp>
        <p:nvSpPr>
          <p:cNvPr id="9" name="node"/>
          <p:cNvSpPr/>
          <p:nvPr/>
        </p:nvSpPr>
        <p:spPr>
          <a:xfrm>
            <a:off x="4480560" y="1371600"/>
            <a:ext cx="1554480" cy="640080"/>
          </a:xfrm>
          <a:prstGeom prst="rect">
            <a:avLst/>
          </a:prstGeom>
          <a:solidFill>
            <a:schemeClr val="bg1"/>
          </a:solidFill>
          <a:ln w="12700">
            <a:solidFill>
              <a:schemeClr val="tx2"/>
            </a:solidFill>
            <a:prstDash val="solid"/>
          </a:ln>
        </p:spPr>
      </p:sp>
      <p:sp>
        <p:nvSpPr>
          <p:cNvPr id="10" name="Text 7"/>
          <p:cNvSpPr txBox="1"/>
          <p:nvPr/>
        </p:nvSpPr>
        <p:spPr>
          <a:xfrm>
            <a:off x="4517136" y="1371600"/>
            <a:ext cx="1481328" cy="640080"/>
          </a:xfrm>
          <a:prstGeom prst="rect">
            <a:avLst/>
          </a:prstGeom>
          <a:noFill/>
          <a:ln/>
        </p:spPr>
        <p:txBody>
          <a:bodyPr wrap="square" lIns="0" tIns="0" rIns="0" bIns="0" rtlCol="0" anchor="ctr"/>
          <a:lstStyle/>
          <a:p>
            <a:pPr algn="ctr" indent="0" marL="0">
              <a:buNone/>
            </a:pPr>
            <a:r>
              <a:rPr lang="en-US" sz="900" dirty="0">
                <a:solidFill>
                  <a:schemeClr val="tx1"/>
                </a:solidFill>
              </a:rPr>
              <a:t>roleRedirectGuard</a:t>
            </a:r>
            <a:endParaRPr lang="en-US" sz="900" dirty="0"/>
          </a:p>
          <a:p>
            <a:pPr algn="ctr" indent="0" marL="0">
              <a:buNone/>
            </a:pPr>
            <a:r>
              <a:rPr lang="en-US" sz="900" dirty="0">
                <a:solidFill>
                  <a:schemeClr val="tx1"/>
                </a:solidFill>
              </a:rPr>
              <a:t>role dashboard</a:t>
            </a:r>
            <a:endParaRPr lang="en-US" sz="900" dirty="0"/>
          </a:p>
        </p:txBody>
      </p:sp>
      <p:sp>
        <p:nvSpPr>
          <p:cNvPr id="11" name="node"/>
          <p:cNvSpPr/>
          <p:nvPr/>
        </p:nvSpPr>
        <p:spPr>
          <a:xfrm>
            <a:off x="6492240" y="1371600"/>
            <a:ext cx="1554480" cy="640080"/>
          </a:xfrm>
          <a:prstGeom prst="rect">
            <a:avLst/>
          </a:prstGeom>
          <a:solidFill>
            <a:schemeClr val="bg1"/>
          </a:solidFill>
          <a:ln w="12700">
            <a:solidFill>
              <a:schemeClr val="accent5"/>
            </a:solidFill>
            <a:prstDash val="solid"/>
          </a:ln>
        </p:spPr>
      </p:sp>
      <p:sp>
        <p:nvSpPr>
          <p:cNvPr id="12" name="Text 9"/>
          <p:cNvSpPr txBox="1"/>
          <p:nvPr/>
        </p:nvSpPr>
        <p:spPr>
          <a:xfrm>
            <a:off x="6528816" y="1371600"/>
            <a:ext cx="1481328" cy="640080"/>
          </a:xfrm>
          <a:prstGeom prst="rect">
            <a:avLst/>
          </a:prstGeom>
          <a:noFill/>
          <a:ln/>
        </p:spPr>
        <p:txBody>
          <a:bodyPr wrap="square" lIns="0" tIns="0" rIns="0" bIns="0" rtlCol="0" anchor="ctr"/>
          <a:lstStyle/>
          <a:p>
            <a:pPr algn="ctr" indent="0" marL="0">
              <a:buNone/>
            </a:pPr>
            <a:r>
              <a:rPr lang="en-US" sz="900" dirty="0">
                <a:solidFill>
                  <a:schemeClr val="tx1"/>
                </a:solidFill>
              </a:rPr>
              <a:t>/forbidden, /**</a:t>
            </a:r>
            <a:endParaRPr lang="en-US" sz="900" dirty="0"/>
          </a:p>
          <a:p>
            <a:pPr algn="ctr" indent="0" marL="0">
              <a:buNone/>
            </a:pPr>
            <a:r>
              <a:rPr lang="en-US" sz="900" dirty="0">
                <a:solidFill>
                  <a:schemeClr val="tx1"/>
                </a:solidFill>
              </a:rPr>
              <a:t>error pages</a:t>
            </a:r>
            <a:endParaRPr lang="en-US" sz="900" dirty="0"/>
          </a:p>
        </p:txBody>
      </p:sp>
      <p:sp>
        <p:nvSpPr>
          <p:cNvPr id="13" name="Shape 10"/>
          <p:cNvSpPr/>
          <p:nvPr/>
        </p:nvSpPr>
        <p:spPr>
          <a:xfrm>
            <a:off x="2011680" y="1691640"/>
            <a:ext cx="457200" cy="0"/>
          </a:xfrm>
          <a:prstGeom prst="line">
            <a:avLst/>
          </a:prstGeom>
          <a:noFill/>
          <a:ln w="13970">
            <a:solidFill>
              <a:schemeClr val="tx2"/>
            </a:solidFill>
            <a:prstDash val="solid"/>
            <a:tailEnd type="triangle"/>
          </a:ln>
        </p:spPr>
      </p:sp>
      <p:sp>
        <p:nvSpPr>
          <p:cNvPr id="14" name="Shape 11"/>
          <p:cNvSpPr/>
          <p:nvPr/>
        </p:nvSpPr>
        <p:spPr>
          <a:xfrm>
            <a:off x="4023360" y="1691640"/>
            <a:ext cx="457200" cy="0"/>
          </a:xfrm>
          <a:prstGeom prst="line">
            <a:avLst/>
          </a:prstGeom>
          <a:noFill/>
          <a:ln w="13970">
            <a:solidFill>
              <a:schemeClr val="tx2"/>
            </a:solidFill>
            <a:prstDash val="solid"/>
            <a:tailEnd type="triangle"/>
          </a:ln>
        </p:spPr>
      </p:sp>
      <p:sp>
        <p:nvSpPr>
          <p:cNvPr id="15" name="Shape 12"/>
          <p:cNvSpPr/>
          <p:nvPr/>
        </p:nvSpPr>
        <p:spPr>
          <a:xfrm>
            <a:off x="6035040" y="1691640"/>
            <a:ext cx="457200" cy="0"/>
          </a:xfrm>
          <a:prstGeom prst="line">
            <a:avLst/>
          </a:prstGeom>
          <a:noFill/>
          <a:ln w="13970">
            <a:solidFill>
              <a:schemeClr val="tx2"/>
            </a:solidFill>
            <a:prstDash val="dash"/>
            <a:tailEnd type="triangle"/>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2377440"/>
          <a:ext cx="8229600" cy="914400"/>
        </p:xfrm>
        <a:graphic>
          <a:graphicData uri="http://schemas.openxmlformats.org/drawingml/2006/table">
            <a:tbl>
              <a:tblPr/>
              <a:tblGrid>
                <a:gridCol w="1463040"/>
                <a:gridCol w="6766560"/>
              </a:tblGrid>
              <a:tr h="0">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Role area</a:t>
                      </a:r>
                      <a:endParaRPr lang="en-US" sz="9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Example routes</a:t>
                      </a:r>
                      <a:endParaRPr lang="en-US" sz="9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r>
              <a:tr h="0">
                <a:tc>
                  <a:txBody>
                    <a:bodyPr/>
                    <a:lstStyle/>
                    <a:p>
                      <a:pPr indent="0" marL="0">
                        <a:buNone/>
                      </a:pPr>
                      <a:r>
                        <a:rPr lang="en-US" sz="1050" dirty="0">
                          <a:solidFill>
                            <a:srgbClr val="211E1F"/>
                          </a:solidFill>
                        </a:rPr>
                        <a:t>customer/</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company/register, equipment, sites, operators, quotes, policies, claims/register, endorsements, renewals, invoices</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211E1F"/>
                          </a:solidFill>
                        </a:rPr>
                        <a:t>underwriting/</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review-queue, risk-assessment, quotes/:quoteId, endorsements</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050" dirty="0">
                          <a:solidFill>
                            <a:srgbClr val="211E1F"/>
                          </a:solidFill>
                        </a:rPr>
                        <a:t>policies/</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creation, portfolio, quotation-history, renewals, endorsements</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211E1F"/>
                          </a:solidFill>
                        </a:rPr>
                        <a:t>claims/</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workbench, :claimId</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050" dirty="0">
                          <a:solidFill>
                            <a:srgbClr val="211E1F"/>
                          </a:solidFill>
                        </a:rPr>
                        <a:t>admin/</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users, companies, policies, claims, billing, analytics, exceptions</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100" b="1" dirty="0">
                <a:solidFill>
                  <a:schemeClr val="tx2"/>
                </a:solidFill>
                <a:latin typeface="Manrope" pitchFamily="34" charset="0"/>
                <a:ea typeface="Manrope" pitchFamily="34" charset="-122"/>
                <a:cs typeface="Manrope" pitchFamily="34" charset="-120"/>
              </a:rPr>
              <a:t>Each service follows the same layered design</a:t>
            </a:r>
            <a:endParaRPr lang="en-US" sz="2100" dirty="0"/>
          </a:p>
        </p:txBody>
      </p:sp>
      <p:sp>
        <p:nvSpPr>
          <p:cNvPr id="4" name="Text 1"/>
          <p:cNvSpPr txBox="1"/>
          <p:nvPr/>
        </p:nvSpPr>
        <p:spPr>
          <a:xfrm>
            <a:off x="457200" y="868680"/>
            <a:ext cx="8229600" cy="274320"/>
          </a:xfrm>
          <a:prstGeom prst="rect">
            <a:avLst/>
          </a:prstGeom>
          <a:noFill/>
          <a:ln/>
        </p:spPr>
        <p:txBody>
          <a:bodyPr wrap="square" lIns="0" tIns="0" rIns="0" bIns="0" rtlCol="0" anchor="t"/>
          <a:lstStyle/>
          <a:p>
            <a:pPr indent="0" marL="0">
              <a:buNone/>
            </a:pPr>
            <a:r>
              <a:rPr lang="en-US" sz="1150" i="1" dirty="0">
                <a:solidFill>
                  <a:schemeClr val="accent5"/>
                </a:solidFill>
              </a:rPr>
              <a:t>Controller -&gt; Service -&gt; Rule -&gt; Repository, on a reactive WebFlux and R2DBC stack.</a:t>
            </a:r>
            <a:endParaRPr lang="en-US" sz="1150" dirty="0"/>
          </a:p>
        </p:txBody>
      </p:sp>
      <p:sp>
        <p:nvSpPr>
          <p:cNvPr id="5" name="node"/>
          <p:cNvSpPr/>
          <p:nvPr/>
        </p:nvSpPr>
        <p:spPr>
          <a:xfrm>
            <a:off x="457200" y="1280160"/>
            <a:ext cx="1645920" cy="502920"/>
          </a:xfrm>
          <a:prstGeom prst="rect">
            <a:avLst/>
          </a:prstGeom>
          <a:solidFill>
            <a:schemeClr val="tx2"/>
          </a:solidFill>
          <a:ln w="12700">
            <a:solidFill>
              <a:schemeClr val="tx2"/>
            </a:solidFill>
            <a:prstDash val="solid"/>
          </a:ln>
        </p:spPr>
      </p:sp>
      <p:sp>
        <p:nvSpPr>
          <p:cNvPr id="6" name="Text 3"/>
          <p:cNvSpPr txBox="1"/>
          <p:nvPr/>
        </p:nvSpPr>
        <p:spPr>
          <a:xfrm>
            <a:off x="493776" y="1280160"/>
            <a:ext cx="1572768" cy="502920"/>
          </a:xfrm>
          <a:prstGeom prst="rect">
            <a:avLst/>
          </a:prstGeom>
          <a:noFill/>
          <a:ln/>
        </p:spPr>
        <p:txBody>
          <a:bodyPr wrap="square" lIns="0" tIns="0" rIns="0" bIns="0" rtlCol="0" anchor="ctr"/>
          <a:lstStyle/>
          <a:p>
            <a:pPr algn="ctr" indent="0" marL="0">
              <a:buNone/>
            </a:pPr>
            <a:r>
              <a:rPr lang="en-US" sz="950" b="1" dirty="0">
                <a:solidFill>
                  <a:schemeClr val="bg1"/>
                </a:solidFill>
              </a:rPr>
              <a:t>Controller</a:t>
            </a:r>
            <a:endParaRPr lang="en-US" sz="950" dirty="0"/>
          </a:p>
        </p:txBody>
      </p:sp>
      <p:sp>
        <p:nvSpPr>
          <p:cNvPr id="7" name="Text 4"/>
          <p:cNvSpPr txBox="1"/>
          <p:nvPr/>
        </p:nvSpPr>
        <p:spPr>
          <a:xfrm>
            <a:off x="2286000" y="1280160"/>
            <a:ext cx="3017520" cy="502920"/>
          </a:xfrm>
          <a:prstGeom prst="rect">
            <a:avLst/>
          </a:prstGeom>
          <a:noFill/>
          <a:ln/>
        </p:spPr>
        <p:txBody>
          <a:bodyPr wrap="square" lIns="0" tIns="0" rIns="0" bIns="0" rtlCol="0" anchor="ctr"/>
          <a:lstStyle/>
          <a:p>
            <a:pPr indent="0" marL="0">
              <a:buNone/>
            </a:pPr>
            <a:r>
              <a:rPr lang="en-US" sz="1000" dirty="0">
                <a:solidFill>
                  <a:schemeClr val="tx1"/>
                </a:solidFill>
              </a:rPr>
              <a:t>REST endpoints, @PreAuthorize, Swagger annotations</a:t>
            </a:r>
            <a:endParaRPr lang="en-US" sz="1000" dirty="0"/>
          </a:p>
        </p:txBody>
      </p:sp>
      <p:sp>
        <p:nvSpPr>
          <p:cNvPr id="8" name="Shape 5"/>
          <p:cNvSpPr/>
          <p:nvPr/>
        </p:nvSpPr>
        <p:spPr>
          <a:xfrm>
            <a:off x="1280160" y="1783080"/>
            <a:ext cx="0" cy="155448"/>
          </a:xfrm>
          <a:prstGeom prst="line">
            <a:avLst/>
          </a:prstGeom>
          <a:noFill/>
          <a:ln w="13970">
            <a:solidFill>
              <a:schemeClr val="tx2"/>
            </a:solidFill>
            <a:prstDash val="solid"/>
            <a:tailEnd type="triangle"/>
          </a:ln>
        </p:spPr>
      </p:sp>
      <p:sp>
        <p:nvSpPr>
          <p:cNvPr id="9" name="node"/>
          <p:cNvSpPr/>
          <p:nvPr/>
        </p:nvSpPr>
        <p:spPr>
          <a:xfrm>
            <a:off x="457200" y="1938528"/>
            <a:ext cx="1645920" cy="502920"/>
          </a:xfrm>
          <a:prstGeom prst="rect">
            <a:avLst/>
          </a:prstGeom>
          <a:solidFill>
            <a:schemeClr val="tx2"/>
          </a:solidFill>
          <a:ln w="12700">
            <a:solidFill>
              <a:schemeClr val="tx2"/>
            </a:solidFill>
            <a:prstDash val="solid"/>
          </a:ln>
        </p:spPr>
      </p:sp>
      <p:sp>
        <p:nvSpPr>
          <p:cNvPr id="10" name="Text 7"/>
          <p:cNvSpPr txBox="1"/>
          <p:nvPr/>
        </p:nvSpPr>
        <p:spPr>
          <a:xfrm>
            <a:off x="493776" y="1938528"/>
            <a:ext cx="1572768" cy="502920"/>
          </a:xfrm>
          <a:prstGeom prst="rect">
            <a:avLst/>
          </a:prstGeom>
          <a:noFill/>
          <a:ln/>
        </p:spPr>
        <p:txBody>
          <a:bodyPr wrap="square" lIns="0" tIns="0" rIns="0" bIns="0" rtlCol="0" anchor="ctr"/>
          <a:lstStyle/>
          <a:p>
            <a:pPr algn="ctr" indent="0" marL="0">
              <a:buNone/>
            </a:pPr>
            <a:r>
              <a:rPr lang="en-US" sz="950" b="1" dirty="0">
                <a:solidFill>
                  <a:schemeClr val="bg1"/>
                </a:solidFill>
              </a:rPr>
              <a:t>Service</a:t>
            </a:r>
            <a:endParaRPr lang="en-US" sz="950" dirty="0"/>
          </a:p>
        </p:txBody>
      </p:sp>
      <p:sp>
        <p:nvSpPr>
          <p:cNvPr id="11" name="Text 8"/>
          <p:cNvSpPr txBox="1"/>
          <p:nvPr/>
        </p:nvSpPr>
        <p:spPr>
          <a:xfrm>
            <a:off x="2286000" y="1938528"/>
            <a:ext cx="3017520" cy="502920"/>
          </a:xfrm>
          <a:prstGeom prst="rect">
            <a:avLst/>
          </a:prstGeom>
          <a:noFill/>
          <a:ln/>
        </p:spPr>
        <p:txBody>
          <a:bodyPr wrap="square" lIns="0" tIns="0" rIns="0" bIns="0" rtlCol="0" anchor="ctr"/>
          <a:lstStyle/>
          <a:p>
            <a:pPr indent="0" marL="0">
              <a:buNone/>
            </a:pPr>
            <a:r>
              <a:rPr lang="en-US" sz="1000" dirty="0">
                <a:solidFill>
                  <a:schemeClr val="tx1"/>
                </a:solidFill>
              </a:rPr>
              <a:t>Orchestration, WebClient calls to other services</a:t>
            </a:r>
            <a:endParaRPr lang="en-US" sz="1000" dirty="0"/>
          </a:p>
        </p:txBody>
      </p:sp>
      <p:sp>
        <p:nvSpPr>
          <p:cNvPr id="12" name="Shape 9"/>
          <p:cNvSpPr/>
          <p:nvPr/>
        </p:nvSpPr>
        <p:spPr>
          <a:xfrm>
            <a:off x="1280160" y="2441448"/>
            <a:ext cx="0" cy="155448"/>
          </a:xfrm>
          <a:prstGeom prst="line">
            <a:avLst/>
          </a:prstGeom>
          <a:noFill/>
          <a:ln w="13970">
            <a:solidFill>
              <a:schemeClr val="tx2"/>
            </a:solidFill>
            <a:prstDash val="solid"/>
            <a:tailEnd type="triangle"/>
          </a:ln>
        </p:spPr>
      </p:sp>
      <p:sp>
        <p:nvSpPr>
          <p:cNvPr id="13" name="node"/>
          <p:cNvSpPr/>
          <p:nvPr/>
        </p:nvSpPr>
        <p:spPr>
          <a:xfrm>
            <a:off x="457200" y="2596896"/>
            <a:ext cx="1645920" cy="502920"/>
          </a:xfrm>
          <a:prstGeom prst="rect">
            <a:avLst/>
          </a:prstGeom>
          <a:solidFill>
            <a:schemeClr val="tx2"/>
          </a:solidFill>
          <a:ln w="12700">
            <a:solidFill>
              <a:schemeClr val="tx2"/>
            </a:solidFill>
            <a:prstDash val="solid"/>
          </a:ln>
        </p:spPr>
      </p:sp>
      <p:sp>
        <p:nvSpPr>
          <p:cNvPr id="14" name="Text 11"/>
          <p:cNvSpPr txBox="1"/>
          <p:nvPr/>
        </p:nvSpPr>
        <p:spPr>
          <a:xfrm>
            <a:off x="493776" y="2596896"/>
            <a:ext cx="1572768" cy="502920"/>
          </a:xfrm>
          <a:prstGeom prst="rect">
            <a:avLst/>
          </a:prstGeom>
          <a:noFill/>
          <a:ln/>
        </p:spPr>
        <p:txBody>
          <a:bodyPr wrap="square" lIns="0" tIns="0" rIns="0" bIns="0" rtlCol="0" anchor="ctr"/>
          <a:lstStyle/>
          <a:p>
            <a:pPr algn="ctr" indent="0" marL="0">
              <a:buNone/>
            </a:pPr>
            <a:r>
              <a:rPr lang="en-US" sz="950" b="1" dirty="0">
                <a:solidFill>
                  <a:schemeClr val="bg1"/>
                </a:solidFill>
              </a:rPr>
              <a:t>Rule classes</a:t>
            </a:r>
            <a:endParaRPr lang="en-US" sz="950" dirty="0"/>
          </a:p>
        </p:txBody>
      </p:sp>
      <p:sp>
        <p:nvSpPr>
          <p:cNvPr id="15" name="Text 12"/>
          <p:cNvSpPr txBox="1"/>
          <p:nvPr/>
        </p:nvSpPr>
        <p:spPr>
          <a:xfrm>
            <a:off x="2286000" y="2596896"/>
            <a:ext cx="3017520" cy="502920"/>
          </a:xfrm>
          <a:prstGeom prst="rect">
            <a:avLst/>
          </a:prstGeom>
          <a:noFill/>
          <a:ln/>
        </p:spPr>
        <p:txBody>
          <a:bodyPr wrap="square" lIns="0" tIns="0" rIns="0" bIns="0" rtlCol="0" anchor="ctr"/>
          <a:lstStyle/>
          <a:p>
            <a:pPr indent="0" marL="0">
              <a:buNone/>
            </a:pPr>
            <a:r>
              <a:rPr lang="en-US" sz="1000" dirty="0">
                <a:solidFill>
                  <a:schemeClr val="tx1"/>
                </a:solidFill>
              </a:rPr>
              <a:t>PremiumCalculationRule, RiskCalculationRule, SettlementCalculationRule, LossClassificationRule</a:t>
            </a:r>
            <a:endParaRPr lang="en-US" sz="1000" dirty="0"/>
          </a:p>
        </p:txBody>
      </p:sp>
      <p:sp>
        <p:nvSpPr>
          <p:cNvPr id="16" name="Shape 13"/>
          <p:cNvSpPr/>
          <p:nvPr/>
        </p:nvSpPr>
        <p:spPr>
          <a:xfrm>
            <a:off x="1280160" y="3099816"/>
            <a:ext cx="0" cy="155448"/>
          </a:xfrm>
          <a:prstGeom prst="line">
            <a:avLst/>
          </a:prstGeom>
          <a:noFill/>
          <a:ln w="13970">
            <a:solidFill>
              <a:schemeClr val="tx2"/>
            </a:solidFill>
            <a:prstDash val="solid"/>
            <a:tailEnd type="triangle"/>
          </a:ln>
        </p:spPr>
      </p:sp>
      <p:sp>
        <p:nvSpPr>
          <p:cNvPr id="17" name="node"/>
          <p:cNvSpPr/>
          <p:nvPr/>
        </p:nvSpPr>
        <p:spPr>
          <a:xfrm>
            <a:off x="457200" y="3255264"/>
            <a:ext cx="1645920" cy="502920"/>
          </a:xfrm>
          <a:prstGeom prst="rect">
            <a:avLst/>
          </a:prstGeom>
          <a:solidFill>
            <a:schemeClr val="tx2"/>
          </a:solidFill>
          <a:ln w="12700">
            <a:solidFill>
              <a:schemeClr val="tx2"/>
            </a:solidFill>
            <a:prstDash val="solid"/>
          </a:ln>
        </p:spPr>
      </p:sp>
      <p:sp>
        <p:nvSpPr>
          <p:cNvPr id="18" name="Text 15"/>
          <p:cNvSpPr txBox="1"/>
          <p:nvPr/>
        </p:nvSpPr>
        <p:spPr>
          <a:xfrm>
            <a:off x="493776" y="3255264"/>
            <a:ext cx="1572768" cy="502920"/>
          </a:xfrm>
          <a:prstGeom prst="rect">
            <a:avLst/>
          </a:prstGeom>
          <a:noFill/>
          <a:ln/>
        </p:spPr>
        <p:txBody>
          <a:bodyPr wrap="square" lIns="0" tIns="0" rIns="0" bIns="0" rtlCol="0" anchor="ctr"/>
          <a:lstStyle/>
          <a:p>
            <a:pPr algn="ctr" indent="0" marL="0">
              <a:buNone/>
            </a:pPr>
            <a:r>
              <a:rPr lang="en-US" sz="950" b="1" dirty="0">
                <a:solidFill>
                  <a:schemeClr val="bg1"/>
                </a:solidFill>
              </a:rPr>
              <a:t>Repository</a:t>
            </a:r>
            <a:endParaRPr lang="en-US" sz="950" dirty="0"/>
          </a:p>
        </p:txBody>
      </p:sp>
      <p:sp>
        <p:nvSpPr>
          <p:cNvPr id="19" name="Text 16"/>
          <p:cNvSpPr txBox="1"/>
          <p:nvPr/>
        </p:nvSpPr>
        <p:spPr>
          <a:xfrm>
            <a:off x="2286000" y="3255264"/>
            <a:ext cx="3017520" cy="502920"/>
          </a:xfrm>
          <a:prstGeom prst="rect">
            <a:avLst/>
          </a:prstGeom>
          <a:noFill/>
          <a:ln/>
        </p:spPr>
        <p:txBody>
          <a:bodyPr wrap="square" lIns="0" tIns="0" rIns="0" bIns="0" rtlCol="0" anchor="ctr"/>
          <a:lstStyle/>
          <a:p>
            <a:pPr indent="0" marL="0">
              <a:buNone/>
            </a:pPr>
            <a:r>
              <a:rPr lang="en-US" sz="1000" dirty="0">
                <a:solidFill>
                  <a:schemeClr val="tx1"/>
                </a:solidFill>
              </a:rPr>
              <a:t>ReactiveCrudRepository over R2DBC; entities with @Table, @Id, @Version</a:t>
            </a:r>
            <a:endParaRPr lang="en-US" sz="1000" dirty="0"/>
          </a:p>
        </p:txBody>
      </p:sp>
      <p:sp>
        <p:nvSpPr>
          <p:cNvPr id="20" name="Shape 17"/>
          <p:cNvSpPr/>
          <p:nvPr/>
        </p:nvSpPr>
        <p:spPr>
          <a:xfrm>
            <a:off x="1280160" y="3758184"/>
            <a:ext cx="0" cy="155448"/>
          </a:xfrm>
          <a:prstGeom prst="line">
            <a:avLst/>
          </a:prstGeom>
          <a:noFill/>
          <a:ln w="13970">
            <a:solidFill>
              <a:schemeClr val="tx2"/>
            </a:solidFill>
            <a:prstDash val="solid"/>
            <a:tailEnd type="triangle"/>
          </a:ln>
        </p:spPr>
      </p:sp>
      <p:sp>
        <p:nvSpPr>
          <p:cNvPr id="21" name="node"/>
          <p:cNvSpPr/>
          <p:nvPr/>
        </p:nvSpPr>
        <p:spPr>
          <a:xfrm>
            <a:off x="457200" y="3913632"/>
            <a:ext cx="1645920" cy="502920"/>
          </a:xfrm>
          <a:prstGeom prst="rect">
            <a:avLst/>
          </a:prstGeom>
          <a:solidFill>
            <a:schemeClr val="bg2"/>
          </a:solidFill>
          <a:ln w="12700">
            <a:solidFill>
              <a:schemeClr val="tx2"/>
            </a:solidFill>
            <a:prstDash val="solid"/>
          </a:ln>
        </p:spPr>
      </p:sp>
      <p:sp>
        <p:nvSpPr>
          <p:cNvPr id="22" name="Text 19"/>
          <p:cNvSpPr txBox="1"/>
          <p:nvPr/>
        </p:nvSpPr>
        <p:spPr>
          <a:xfrm>
            <a:off x="493776" y="3913632"/>
            <a:ext cx="1572768" cy="502920"/>
          </a:xfrm>
          <a:prstGeom prst="rect">
            <a:avLst/>
          </a:prstGeom>
          <a:noFill/>
          <a:ln/>
        </p:spPr>
        <p:txBody>
          <a:bodyPr wrap="square" lIns="0" tIns="0" rIns="0" bIns="0" rtlCol="0" anchor="ctr"/>
          <a:lstStyle/>
          <a:p>
            <a:pPr algn="ctr" indent="0" marL="0">
              <a:buNone/>
            </a:pPr>
            <a:r>
              <a:rPr lang="en-US" sz="950" b="1" dirty="0">
                <a:solidFill>
                  <a:schemeClr val="tx1"/>
                </a:solidFill>
              </a:rPr>
              <a:t>MySQL 8</a:t>
            </a:r>
            <a:endParaRPr lang="en-US" sz="950" dirty="0"/>
          </a:p>
        </p:txBody>
      </p:sp>
      <p:sp>
        <p:nvSpPr>
          <p:cNvPr id="23" name="Text 20"/>
          <p:cNvSpPr txBox="1"/>
          <p:nvPr/>
        </p:nvSpPr>
        <p:spPr>
          <a:xfrm>
            <a:off x="2286000" y="3913632"/>
            <a:ext cx="3017520" cy="502920"/>
          </a:xfrm>
          <a:prstGeom prst="rect">
            <a:avLst/>
          </a:prstGeom>
          <a:noFill/>
          <a:ln/>
        </p:spPr>
        <p:txBody>
          <a:bodyPr wrap="square" lIns="0" tIns="0" rIns="0" bIns="0" rtlCol="0" anchor="ctr"/>
          <a:lstStyle/>
          <a:p>
            <a:pPr indent="0" marL="0">
              <a:buNone/>
            </a:pPr>
            <a:r>
              <a:rPr lang="en-US" sz="1000" dirty="0">
                <a:solidFill>
                  <a:schemeClr val="tx1"/>
                </a:solidFill>
              </a:rPr>
              <a:t>Database per service</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577840" y="1280160"/>
          <a:ext cx="3108960" cy="914400"/>
        </p:xfrm>
        <a:graphic>
          <a:graphicData uri="http://schemas.openxmlformats.org/drawingml/2006/table">
            <a:tbl>
              <a:tblPr/>
              <a:tblGrid>
                <a:gridCol w="1463040"/>
                <a:gridCol w="914400"/>
                <a:gridCol w="731520"/>
              </a:tblGrid>
              <a:tr h="0">
                <a:tc>
                  <a:txBody>
                    <a:bodyPr/>
                    <a:lstStyle/>
                    <a:p>
                      <a:pPr indent="0" marL="0">
                        <a:buNone/>
                      </a:pPr>
                      <a:r>
                        <a:rPr lang="en-US" sz="850" b="1" dirty="0">
                          <a:solidFill>
                            <a:srgbClr val="FFFFFF"/>
                          </a:solidFill>
                          <a:latin typeface="Manrope" pitchFamily="34" charset="0"/>
                          <a:ea typeface="Manrope" pitchFamily="34" charset="-122"/>
                          <a:cs typeface="Manrope" pitchFamily="34" charset="-120"/>
                        </a:rPr>
                        <a:t>Module</a:t>
                      </a:r>
                      <a:endParaRPr lang="en-US" sz="8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850" b="1" dirty="0">
                          <a:solidFill>
                            <a:srgbClr val="FFFFFF"/>
                          </a:solidFill>
                          <a:latin typeface="Manrope" pitchFamily="34" charset="0"/>
                          <a:ea typeface="Manrope" pitchFamily="34" charset="-122"/>
                          <a:cs typeface="Manrope" pitchFamily="34" charset="-120"/>
                        </a:rPr>
                        <a:t>Controllers</a:t>
                      </a:r>
                      <a:endParaRPr lang="en-US" sz="8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850" b="1" dirty="0">
                          <a:solidFill>
                            <a:srgbClr val="FFFFFF"/>
                          </a:solidFill>
                          <a:latin typeface="Manrope" pitchFamily="34" charset="0"/>
                          <a:ea typeface="Manrope" pitchFamily="34" charset="-122"/>
                          <a:cs typeface="Manrope" pitchFamily="34" charset="-120"/>
                        </a:rPr>
                        <a:t>Entities</a:t>
                      </a:r>
                      <a:endParaRPr lang="en-US" sz="8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r>
              <a:tr h="0">
                <a:tc>
                  <a:txBody>
                    <a:bodyPr/>
                    <a:lstStyle/>
                    <a:p>
                      <a:pPr indent="0" marL="0">
                        <a:buNone/>
                      </a:pPr>
                      <a:r>
                        <a:rPr lang="en-US" sz="950" dirty="0">
                          <a:solidFill>
                            <a:srgbClr val="211E1F"/>
                          </a:solidFill>
                        </a:rPr>
                        <a:t>Auth</a:t>
                      </a:r>
                      <a:endParaRPr lang="en-US" sz="9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950" dirty="0">
                          <a:solidFill>
                            <a:srgbClr val="211E1F"/>
                          </a:solidFill>
                        </a:rPr>
                        <a:t>13</a:t>
                      </a:r>
                      <a:endParaRPr lang="en-US" sz="9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950" dirty="0">
                          <a:solidFill>
                            <a:srgbClr val="211E1F"/>
                          </a:solidFill>
                        </a:rPr>
                        <a:t>1</a:t>
                      </a:r>
                      <a:endParaRPr lang="en-US" sz="9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211E1F"/>
                          </a:solidFill>
                        </a:rPr>
                        <a:t>Equipment</a:t>
                      </a:r>
                      <a:endParaRPr lang="en-US" sz="9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950" dirty="0">
                          <a:solidFill>
                            <a:srgbClr val="211E1F"/>
                          </a:solidFill>
                        </a:rPr>
                        <a:t>23</a:t>
                      </a:r>
                      <a:endParaRPr lang="en-US" sz="9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950" dirty="0">
                          <a:solidFill>
                            <a:srgbClr val="211E1F"/>
                          </a:solidFill>
                        </a:rPr>
                        <a:t>6</a:t>
                      </a:r>
                      <a:endParaRPr lang="en-US" sz="9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950" dirty="0">
                          <a:solidFill>
                            <a:srgbClr val="211E1F"/>
                          </a:solidFill>
                        </a:rPr>
                        <a:t>Underwriting &amp; Policy</a:t>
                      </a:r>
                      <a:endParaRPr lang="en-US" sz="9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950" dirty="0">
                          <a:solidFill>
                            <a:srgbClr val="211E1F"/>
                          </a:solidFill>
                        </a:rPr>
                        <a:t>29</a:t>
                      </a:r>
                      <a:endParaRPr lang="en-US" sz="9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950" dirty="0">
                          <a:solidFill>
                            <a:srgbClr val="211E1F"/>
                          </a:solidFill>
                        </a:rPr>
                        <a:t>5</a:t>
                      </a:r>
                      <a:endParaRPr lang="en-US" sz="9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211E1F"/>
                          </a:solidFill>
                        </a:rPr>
                        <a:t>Claims</a:t>
                      </a:r>
                      <a:endParaRPr lang="en-US" sz="9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950" dirty="0">
                          <a:solidFill>
                            <a:srgbClr val="211E1F"/>
                          </a:solidFill>
                        </a:rPr>
                        <a:t>15</a:t>
                      </a:r>
                      <a:endParaRPr lang="en-US" sz="9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950" dirty="0">
                          <a:solidFill>
                            <a:srgbClr val="211E1F"/>
                          </a:solidFill>
                        </a:rPr>
                        <a:t>3</a:t>
                      </a:r>
                      <a:endParaRPr lang="en-US" sz="9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950" dirty="0">
                          <a:solidFill>
                            <a:srgbClr val="211E1F"/>
                          </a:solidFill>
                        </a:rPr>
                        <a:t>Billing &amp; Notification</a:t>
                      </a:r>
                      <a:endParaRPr lang="en-US" sz="9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950" dirty="0">
                          <a:solidFill>
                            <a:srgbClr val="211E1F"/>
                          </a:solidFill>
                        </a:rPr>
                        <a:t>22</a:t>
                      </a:r>
                      <a:endParaRPr lang="en-US" sz="9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950" dirty="0">
                          <a:solidFill>
                            <a:srgbClr val="211E1F"/>
                          </a:solidFill>
                        </a:rPr>
                        <a:t>3</a:t>
                      </a:r>
                      <a:endParaRPr lang="en-US" sz="9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bl>
          </a:graphicData>
        </a:graphic>
      </p:graphicFrame>
      <p:sp>
        <p:nvSpPr>
          <p:cNvPr id="25" name="Text 21"/>
          <p:cNvSpPr txBox="1"/>
          <p:nvPr/>
        </p:nvSpPr>
        <p:spPr>
          <a:xfrm>
            <a:off x="5577840" y="3291840"/>
            <a:ext cx="3108960" cy="731520"/>
          </a:xfrm>
          <a:prstGeom prst="rect">
            <a:avLst/>
          </a:prstGeom>
          <a:noFill/>
          <a:ln/>
        </p:spPr>
        <p:txBody>
          <a:bodyPr wrap="square" lIns="0" tIns="0" rIns="0" bIns="0" rtlCol="0" anchor="t"/>
          <a:lstStyle/>
          <a:p>
            <a:pPr indent="0" marL="0">
              <a:buNone/>
            </a:pPr>
            <a:r>
              <a:rPr lang="en-US" sz="1000" dirty="0">
                <a:solidFill>
                  <a:schemeClr val="accent5"/>
                </a:solidFill>
              </a:rPr>
              <a:t>Also: DTO records with Bean Validation, mappers, Lombok, SLF4J, GlobalExceptionHandler per service.</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100" b="1" dirty="0">
                <a:solidFill>
                  <a:schemeClr val="tx2"/>
                </a:solidFill>
                <a:latin typeface="Manrope" pitchFamily="34" charset="0"/>
                <a:ea typeface="Manrope" pitchFamily="34" charset="-122"/>
                <a:cs typeface="Manrope" pitchFamily="34" charset="-120"/>
              </a:rPr>
              <a:t>102 REST handlers expose the business rules</a:t>
            </a:r>
            <a:endParaRPr lang="en-US" sz="2100" dirty="0"/>
          </a:p>
        </p:txBody>
      </p:sp>
      <p:sp>
        <p:nvSpPr>
          <p:cNvPr id="4" name="Text 1"/>
          <p:cNvSpPr txBox="1"/>
          <p:nvPr/>
        </p:nvSpPr>
        <p:spPr>
          <a:xfrm>
            <a:off x="457200" y="868680"/>
            <a:ext cx="8229600" cy="274320"/>
          </a:xfrm>
          <a:prstGeom prst="rect">
            <a:avLst/>
          </a:prstGeom>
          <a:noFill/>
          <a:ln/>
        </p:spPr>
        <p:txBody>
          <a:bodyPr wrap="square" lIns="0" tIns="0" rIns="0" bIns="0" rtlCol="0" anchor="t"/>
          <a:lstStyle/>
          <a:p>
            <a:pPr indent="0" marL="0">
              <a:buNone/>
            </a:pPr>
            <a:r>
              <a:rPr lang="en-US" sz="1150" i="1" dirty="0">
                <a:solidFill>
                  <a:schemeClr val="accent5"/>
                </a:solidFill>
              </a:rPr>
              <a:t>Public API under /api/v1; premium and settlement logic live in dedicated rule classes.</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3931920" cy="914400"/>
        </p:xfrm>
        <a:graphic>
          <a:graphicData uri="http://schemas.openxmlformats.org/drawingml/2006/table">
            <a:tbl>
              <a:tblPr/>
              <a:tblGrid>
                <a:gridCol w="1371600"/>
                <a:gridCol w="502920"/>
                <a:gridCol w="548640"/>
                <a:gridCol w="594360"/>
                <a:gridCol w="411480"/>
                <a:gridCol w="502920"/>
              </a:tblGrid>
              <a:tr h="0">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Module</a:t>
                      </a:r>
                      <a:endParaRPr lang="en-US" sz="9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GET</a:t>
                      </a:r>
                      <a:endParaRPr lang="en-US" sz="9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POST</a:t>
                      </a:r>
                      <a:endParaRPr lang="en-US" sz="9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PATCH</a:t>
                      </a:r>
                      <a:endParaRPr lang="en-US" sz="9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PUT</a:t>
                      </a:r>
                      <a:endParaRPr lang="en-US" sz="9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Total</a:t>
                      </a:r>
                      <a:endParaRPr lang="en-US" sz="9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r>
              <a:tr h="0">
                <a:tc>
                  <a:txBody>
                    <a:bodyPr/>
                    <a:lstStyle/>
                    <a:p>
                      <a:pPr indent="0" marL="0">
                        <a:buNone/>
                      </a:pPr>
                      <a:r>
                        <a:rPr lang="en-US" sz="1050" dirty="0">
                          <a:solidFill>
                            <a:srgbClr val="211E1F"/>
                          </a:solidFill>
                        </a:rPr>
                        <a:t>Auth</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3</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5</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5</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0</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13</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211E1F"/>
                          </a:solidFill>
                        </a:rPr>
                        <a:t>Equipment</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16</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6</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1</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0</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23</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050" dirty="0">
                          <a:solidFill>
                            <a:srgbClr val="211E1F"/>
                          </a:solidFill>
                        </a:rPr>
                        <a:t>Underwriting</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17</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6</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5</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1</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29</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211E1F"/>
                          </a:solidFill>
                        </a:rPr>
                        <a:t>Claims</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6</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8</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1</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0</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15</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050" dirty="0">
                          <a:solidFill>
                            <a:srgbClr val="211E1F"/>
                          </a:solidFill>
                        </a:rPr>
                        <a:t>Billing</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12</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8</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2</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0</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22</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211E1F"/>
                          </a:solidFill>
                        </a:rPr>
                        <a:t>Total</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54</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33</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14</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1</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102</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bl>
          </a:graphicData>
        </a:graphic>
      </p:graphicFrame>
      <p:sp>
        <p:nvSpPr>
          <p:cNvPr id="6" name="Shape 2"/>
          <p:cNvSpPr/>
          <p:nvPr/>
        </p:nvSpPr>
        <p:spPr>
          <a:xfrm>
            <a:off x="4617720" y="1280160"/>
            <a:ext cx="4069080" cy="3200400"/>
          </a:xfrm>
          <a:prstGeom prst="rect">
            <a:avLst/>
          </a:prstGeom>
          <a:solidFill>
            <a:schemeClr val="bg1"/>
          </a:solidFill>
          <a:ln w="9525">
            <a:solidFill>
              <a:schemeClr val="accent6"/>
            </a:solidFill>
            <a:prstDash val="solid"/>
          </a:ln>
        </p:spPr>
      </p:sp>
      <p:sp>
        <p:nvSpPr>
          <p:cNvPr id="7" name="Shape 3"/>
          <p:cNvSpPr/>
          <p:nvPr/>
        </p:nvSpPr>
        <p:spPr>
          <a:xfrm>
            <a:off x="4617720" y="1280160"/>
            <a:ext cx="45720" cy="3200400"/>
          </a:xfrm>
          <a:prstGeom prst="rect">
            <a:avLst/>
          </a:prstGeom>
          <a:solidFill>
            <a:schemeClr val="accent2"/>
          </a:solidFill>
          <a:ln w="12700">
            <a:solidFill>
              <a:schemeClr val="accent2"/>
            </a:solidFill>
            <a:prstDash val="solid"/>
          </a:ln>
        </p:spPr>
      </p:sp>
      <p:sp>
        <p:nvSpPr>
          <p:cNvPr id="8" name="Text 4"/>
          <p:cNvSpPr txBox="1"/>
          <p:nvPr/>
        </p:nvSpPr>
        <p:spPr>
          <a:xfrm>
            <a:off x="4782312" y="1371600"/>
            <a:ext cx="3794760" cy="256032"/>
          </a:xfrm>
          <a:prstGeom prst="rect">
            <a:avLst/>
          </a:prstGeom>
          <a:noFill/>
          <a:ln/>
        </p:spPr>
        <p:txBody>
          <a:bodyPr wrap="square" lIns="0" tIns="0" rIns="0" bIns="0" rtlCol="0" anchor="t"/>
          <a:lstStyle/>
          <a:p>
            <a:pPr indent="0" marL="0">
              <a:buNone/>
            </a:pPr>
            <a:r>
              <a:rPr lang="en-US" sz="1150" b="1" dirty="0">
                <a:solidFill>
                  <a:schemeClr val="tx2"/>
                </a:solidFill>
                <a:latin typeface="Manrope" pitchFamily="34" charset="0"/>
                <a:ea typeface="Manrope" pitchFamily="34" charset="-122"/>
                <a:cs typeface="Manrope" pitchFamily="34" charset="-120"/>
              </a:rPr>
              <a:t>Key rules implemented</a:t>
            </a:r>
            <a:endParaRPr lang="en-US" sz="1150" dirty="0"/>
          </a:p>
        </p:txBody>
      </p:sp>
      <p:sp>
        <p:nvSpPr>
          <p:cNvPr id="9" name="Text 5"/>
          <p:cNvSpPr txBox="1"/>
          <p:nvPr/>
        </p:nvSpPr>
        <p:spPr>
          <a:xfrm>
            <a:off x="4782312" y="1664208"/>
            <a:ext cx="3794760" cy="274320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chemeClr val="tx1"/>
                </a:solidFill>
              </a:rPr>
              <a:t>Premium = sum insured x base rate + risk loading, minimum floor</a:t>
            </a:r>
            <a:endParaRPr lang="en-US" sz="1050" dirty="0"/>
          </a:p>
          <a:p>
            <a:pPr marL="152400" indent="-152400">
              <a:spcAft>
                <a:spcPts val="500"/>
              </a:spcAft>
              <a:buSzPct val="100000"/>
              <a:buChar char="•"/>
            </a:pPr>
            <a:r>
              <a:rPr lang="en-US" sz="1050" dirty="0">
                <a:solidFill>
                  <a:schemeClr val="tx1"/>
                </a:solidFill>
              </a:rPr>
              <a:t>Settlement = approved loss - deductible - depreciation - salvage, never negative</a:t>
            </a:r>
            <a:endParaRPr lang="en-US" sz="1050" dirty="0"/>
          </a:p>
          <a:p>
            <a:pPr marL="152400" indent="-152400">
              <a:spcAft>
                <a:spcPts val="500"/>
              </a:spcAft>
              <a:buSzPct val="100000"/>
              <a:buChar char="•"/>
            </a:pPr>
            <a:r>
              <a:rPr lang="en-US" sz="1050" dirty="0">
                <a:solidFill>
                  <a:schemeClr val="tx1"/>
                </a:solidFill>
              </a:rPr>
              <a:t>Approved loss cannot exceed sum insured</a:t>
            </a:r>
            <a:endParaRPr lang="en-US" sz="1050" dirty="0"/>
          </a:p>
          <a:p>
            <a:pPr marL="152400" indent="-152400">
              <a:spcAft>
                <a:spcPts val="500"/>
              </a:spcAft>
              <a:buSzPct val="100000"/>
              <a:buChar char="•"/>
            </a:pPr>
            <a:r>
              <a:rPr lang="en-US" sz="1050" dirty="0">
                <a:solidFill>
                  <a:schemeClr val="tx1"/>
                </a:solidFill>
              </a:rPr>
              <a:t>Total loss when repair-to-value &gt;= threshold (default 75%)</a:t>
            </a:r>
            <a:endParaRPr lang="en-US" sz="1050" dirty="0"/>
          </a:p>
          <a:p>
            <a:pPr marL="152400" indent="-152400">
              <a:spcAft>
                <a:spcPts val="500"/>
              </a:spcAft>
              <a:buSzPct val="100000"/>
              <a:buChar char="•"/>
            </a:pPr>
            <a:r>
              <a:rPr lang="en-US" sz="1050" dirty="0">
                <a:solidFill>
                  <a:schemeClr val="tx1"/>
                </a:solidFill>
              </a:rPr>
              <a:t>Settlement above 1,000,000.00 (default) needs ADMIN review</a:t>
            </a:r>
            <a:endParaRPr lang="en-US" sz="1050" dirty="0"/>
          </a:p>
          <a:p>
            <a:pPr marL="152400" indent="-152400">
              <a:spcAft>
                <a:spcPts val="500"/>
              </a:spcAft>
              <a:buSzPct val="100000"/>
              <a:buChar char="•"/>
            </a:pPr>
            <a:r>
              <a:rPr lang="en-US" sz="1050" dirty="0">
                <a:solidFill>
                  <a:schemeClr val="tx1"/>
                </a:solidFill>
              </a:rPr>
              <a:t>Equipment assignment overlap rejected</a:t>
            </a:r>
            <a:endParaRPr lang="en-US" sz="1050" dirty="0"/>
          </a:p>
        </p:txBody>
      </p:sp>
      <p:sp>
        <p:nvSpPr>
          <p:cNvPr id="10" name="Text 6"/>
          <p:cNvSpPr txBox="1"/>
          <p:nvPr/>
        </p:nvSpPr>
        <p:spPr>
          <a:xfrm>
            <a:off x="457200" y="3840480"/>
            <a:ext cx="3931920" cy="640080"/>
          </a:xfrm>
          <a:prstGeom prst="rect">
            <a:avLst/>
          </a:prstGeom>
          <a:noFill/>
          <a:ln/>
        </p:spPr>
        <p:txBody>
          <a:bodyPr wrap="square" lIns="0" tIns="0" rIns="0" bIns="0" rtlCol="0" anchor="t"/>
          <a:lstStyle/>
          <a:p>
            <a:pPr indent="0" marL="0">
              <a:buNone/>
            </a:pPr>
            <a:r>
              <a:rPr lang="en-US" sz="900" dirty="0">
                <a:solidFill>
                  <a:schemeClr val="accent5"/>
                </a:solidFill>
                <a:latin typeface="Consolas" pitchFamily="34" charset="0"/>
                <a:ea typeface="Consolas" pitchFamily="34" charset="-122"/>
                <a:cs typeface="Consolas" pitchFamily="34" charset="-120"/>
              </a:rPr>
              <a:t>Examples: POST /api/v1/claims/fnol, POST /api/v1/policies/from-quote/{quoteId}, PATCH /api/v1/underwriting/quotes/{id}/decision</a:t>
            </a:r>
            <a:endParaRPr lang="en-US" sz="9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100" b="1" dirty="0">
                <a:solidFill>
                  <a:schemeClr val="tx2"/>
                </a:solidFill>
                <a:latin typeface="Manrope" pitchFamily="34" charset="0"/>
                <a:ea typeface="Manrope" pitchFamily="34" charset="-122"/>
                <a:cs typeface="Manrope" pitchFamily="34" charset="-120"/>
              </a:rPr>
              <a:t>JWT: issued by Auth, validated everywhere</a:t>
            </a:r>
            <a:endParaRPr lang="en-US" sz="2100" dirty="0"/>
          </a:p>
        </p:txBody>
      </p:sp>
      <p:sp>
        <p:nvSpPr>
          <p:cNvPr id="4" name="Text 1"/>
          <p:cNvSpPr txBox="1"/>
          <p:nvPr/>
        </p:nvSpPr>
        <p:spPr>
          <a:xfrm>
            <a:off x="457200" y="868680"/>
            <a:ext cx="8229600" cy="274320"/>
          </a:xfrm>
          <a:prstGeom prst="rect">
            <a:avLst/>
          </a:prstGeom>
          <a:noFill/>
          <a:ln/>
        </p:spPr>
        <p:txBody>
          <a:bodyPr wrap="square" lIns="0" tIns="0" rIns="0" bIns="0" rtlCol="0" anchor="t"/>
          <a:lstStyle/>
          <a:p>
            <a:pPr indent="0" marL="0">
              <a:buNone/>
            </a:pPr>
            <a:r>
              <a:rPr lang="en-US" sz="1150" i="1" dirty="0">
                <a:solidFill>
                  <a:schemeClr val="accent5"/>
                </a:solidFill>
              </a:rPr>
              <a:t>Protected request: token check, role mapping, path rule, @PreAuthorize, then service logic.</a:t>
            </a:r>
            <a:endParaRPr lang="en-US" sz="1150" dirty="0"/>
          </a:p>
        </p:txBody>
      </p:sp>
      <p:sp>
        <p:nvSpPr>
          <p:cNvPr id="5" name="node"/>
          <p:cNvSpPr/>
          <p:nvPr/>
        </p:nvSpPr>
        <p:spPr>
          <a:xfrm>
            <a:off x="320040" y="1280160"/>
            <a:ext cx="1005840" cy="365760"/>
          </a:xfrm>
          <a:prstGeom prst="rect">
            <a:avLst/>
          </a:prstGeom>
          <a:solidFill>
            <a:schemeClr val="tx2"/>
          </a:solidFill>
          <a:ln w="12700">
            <a:solidFill>
              <a:schemeClr val="tx2"/>
            </a:solidFill>
            <a:prstDash val="solid"/>
          </a:ln>
        </p:spPr>
      </p:sp>
      <p:sp>
        <p:nvSpPr>
          <p:cNvPr id="6" name="Text 3"/>
          <p:cNvSpPr txBox="1"/>
          <p:nvPr/>
        </p:nvSpPr>
        <p:spPr>
          <a:xfrm>
            <a:off x="356616" y="1280160"/>
            <a:ext cx="932688" cy="365760"/>
          </a:xfrm>
          <a:prstGeom prst="rect">
            <a:avLst/>
          </a:prstGeom>
          <a:noFill/>
          <a:ln/>
        </p:spPr>
        <p:txBody>
          <a:bodyPr wrap="square" lIns="0" tIns="0" rIns="0" bIns="0" rtlCol="0" anchor="ctr"/>
          <a:lstStyle/>
          <a:p>
            <a:pPr algn="ctr" indent="0" marL="0">
              <a:buNone/>
            </a:pPr>
            <a:r>
              <a:rPr lang="en-US" sz="950" b="1" dirty="0">
                <a:solidFill>
                  <a:schemeClr val="bg1"/>
                </a:solidFill>
              </a:rPr>
              <a:t>Angular</a:t>
            </a:r>
            <a:endParaRPr lang="en-US" sz="950" dirty="0"/>
          </a:p>
        </p:txBody>
      </p:sp>
      <p:sp>
        <p:nvSpPr>
          <p:cNvPr id="7" name="Shape 4"/>
          <p:cNvSpPr/>
          <p:nvPr/>
        </p:nvSpPr>
        <p:spPr>
          <a:xfrm>
            <a:off x="822960" y="1645920"/>
            <a:ext cx="0" cy="2377440"/>
          </a:xfrm>
          <a:prstGeom prst="line">
            <a:avLst/>
          </a:prstGeom>
          <a:noFill/>
          <a:ln w="12700">
            <a:solidFill>
              <a:schemeClr val="accent6"/>
            </a:solidFill>
            <a:prstDash val="dash"/>
          </a:ln>
        </p:spPr>
      </p:sp>
      <p:sp>
        <p:nvSpPr>
          <p:cNvPr id="8" name="node"/>
          <p:cNvSpPr/>
          <p:nvPr/>
        </p:nvSpPr>
        <p:spPr>
          <a:xfrm>
            <a:off x="1691640" y="1280160"/>
            <a:ext cx="1005840" cy="365760"/>
          </a:xfrm>
          <a:prstGeom prst="rect">
            <a:avLst/>
          </a:prstGeom>
          <a:solidFill>
            <a:schemeClr val="tx2"/>
          </a:solidFill>
          <a:ln w="12700">
            <a:solidFill>
              <a:schemeClr val="tx2"/>
            </a:solidFill>
            <a:prstDash val="solid"/>
          </a:ln>
        </p:spPr>
      </p:sp>
      <p:sp>
        <p:nvSpPr>
          <p:cNvPr id="9" name="Text 6"/>
          <p:cNvSpPr txBox="1"/>
          <p:nvPr/>
        </p:nvSpPr>
        <p:spPr>
          <a:xfrm>
            <a:off x="1728216" y="1280160"/>
            <a:ext cx="932688" cy="365760"/>
          </a:xfrm>
          <a:prstGeom prst="rect">
            <a:avLst/>
          </a:prstGeom>
          <a:noFill/>
          <a:ln/>
        </p:spPr>
        <p:txBody>
          <a:bodyPr wrap="square" lIns="0" tIns="0" rIns="0" bIns="0" rtlCol="0" anchor="ctr"/>
          <a:lstStyle/>
          <a:p>
            <a:pPr algn="ctr" indent="0" marL="0">
              <a:buNone/>
            </a:pPr>
            <a:r>
              <a:rPr lang="en-US" sz="950" b="1" dirty="0">
                <a:solidFill>
                  <a:schemeClr val="bg1"/>
                </a:solidFill>
              </a:rPr>
              <a:t>Gateway</a:t>
            </a:r>
            <a:endParaRPr lang="en-US" sz="950" dirty="0"/>
          </a:p>
        </p:txBody>
      </p:sp>
      <p:sp>
        <p:nvSpPr>
          <p:cNvPr id="10" name="Shape 7"/>
          <p:cNvSpPr/>
          <p:nvPr/>
        </p:nvSpPr>
        <p:spPr>
          <a:xfrm>
            <a:off x="2194560" y="1645920"/>
            <a:ext cx="0" cy="2377440"/>
          </a:xfrm>
          <a:prstGeom prst="line">
            <a:avLst/>
          </a:prstGeom>
          <a:noFill/>
          <a:ln w="12700">
            <a:solidFill>
              <a:schemeClr val="accent6"/>
            </a:solidFill>
            <a:prstDash val="dash"/>
          </a:ln>
        </p:spPr>
      </p:sp>
      <p:sp>
        <p:nvSpPr>
          <p:cNvPr id="11" name="node"/>
          <p:cNvSpPr/>
          <p:nvPr/>
        </p:nvSpPr>
        <p:spPr>
          <a:xfrm>
            <a:off x="3063240" y="1280160"/>
            <a:ext cx="1005840" cy="365760"/>
          </a:xfrm>
          <a:prstGeom prst="rect">
            <a:avLst/>
          </a:prstGeom>
          <a:solidFill>
            <a:schemeClr val="tx2"/>
          </a:solidFill>
          <a:ln w="12700">
            <a:solidFill>
              <a:schemeClr val="tx2"/>
            </a:solidFill>
            <a:prstDash val="solid"/>
          </a:ln>
        </p:spPr>
      </p:sp>
      <p:sp>
        <p:nvSpPr>
          <p:cNvPr id="12" name="Text 9"/>
          <p:cNvSpPr txBox="1"/>
          <p:nvPr/>
        </p:nvSpPr>
        <p:spPr>
          <a:xfrm>
            <a:off x="3099816" y="1280160"/>
            <a:ext cx="932688" cy="365760"/>
          </a:xfrm>
          <a:prstGeom prst="rect">
            <a:avLst/>
          </a:prstGeom>
          <a:noFill/>
          <a:ln/>
        </p:spPr>
        <p:txBody>
          <a:bodyPr wrap="square" lIns="0" tIns="0" rIns="0" bIns="0" rtlCol="0" anchor="ctr"/>
          <a:lstStyle/>
          <a:p>
            <a:pPr algn="ctr" indent="0" marL="0">
              <a:buNone/>
            </a:pPr>
            <a:r>
              <a:rPr lang="en-US" sz="950" b="1" dirty="0">
                <a:solidFill>
                  <a:schemeClr val="bg1"/>
                </a:solidFill>
              </a:rPr>
              <a:t>Service</a:t>
            </a:r>
            <a:endParaRPr lang="en-US" sz="950" dirty="0"/>
          </a:p>
        </p:txBody>
      </p:sp>
      <p:sp>
        <p:nvSpPr>
          <p:cNvPr id="13" name="Shape 10"/>
          <p:cNvSpPr/>
          <p:nvPr/>
        </p:nvSpPr>
        <p:spPr>
          <a:xfrm>
            <a:off x="3566160" y="1645920"/>
            <a:ext cx="0" cy="2377440"/>
          </a:xfrm>
          <a:prstGeom prst="line">
            <a:avLst/>
          </a:prstGeom>
          <a:noFill/>
          <a:ln w="12700">
            <a:solidFill>
              <a:schemeClr val="accent6"/>
            </a:solidFill>
            <a:prstDash val="dash"/>
          </a:ln>
        </p:spPr>
      </p:sp>
      <p:sp>
        <p:nvSpPr>
          <p:cNvPr id="14" name="node"/>
          <p:cNvSpPr/>
          <p:nvPr/>
        </p:nvSpPr>
        <p:spPr>
          <a:xfrm>
            <a:off x="4434840" y="1280160"/>
            <a:ext cx="1005840" cy="365760"/>
          </a:xfrm>
          <a:prstGeom prst="rect">
            <a:avLst/>
          </a:prstGeom>
          <a:solidFill>
            <a:schemeClr val="tx2"/>
          </a:solidFill>
          <a:ln w="12700">
            <a:solidFill>
              <a:schemeClr val="tx2"/>
            </a:solidFill>
            <a:prstDash val="solid"/>
          </a:ln>
        </p:spPr>
      </p:sp>
      <p:sp>
        <p:nvSpPr>
          <p:cNvPr id="15" name="Text 12"/>
          <p:cNvSpPr txBox="1"/>
          <p:nvPr/>
        </p:nvSpPr>
        <p:spPr>
          <a:xfrm>
            <a:off x="4471416" y="1280160"/>
            <a:ext cx="932688" cy="365760"/>
          </a:xfrm>
          <a:prstGeom prst="rect">
            <a:avLst/>
          </a:prstGeom>
          <a:noFill/>
          <a:ln/>
        </p:spPr>
        <p:txBody>
          <a:bodyPr wrap="square" lIns="0" tIns="0" rIns="0" bIns="0" rtlCol="0" anchor="ctr"/>
          <a:lstStyle/>
          <a:p>
            <a:pPr algn="ctr" indent="0" marL="0">
              <a:buNone/>
            </a:pPr>
            <a:r>
              <a:rPr lang="en-US" sz="950" b="1" dirty="0">
                <a:solidFill>
                  <a:schemeClr val="bg1"/>
                </a:solidFill>
              </a:rPr>
              <a:t>Database</a:t>
            </a:r>
            <a:endParaRPr lang="en-US" sz="950" dirty="0"/>
          </a:p>
        </p:txBody>
      </p:sp>
      <p:sp>
        <p:nvSpPr>
          <p:cNvPr id="16" name="Shape 13"/>
          <p:cNvSpPr/>
          <p:nvPr/>
        </p:nvSpPr>
        <p:spPr>
          <a:xfrm>
            <a:off x="4937760" y="1645920"/>
            <a:ext cx="0" cy="2377440"/>
          </a:xfrm>
          <a:prstGeom prst="line">
            <a:avLst/>
          </a:prstGeom>
          <a:noFill/>
          <a:ln w="12700">
            <a:solidFill>
              <a:schemeClr val="accent6"/>
            </a:solidFill>
            <a:prstDash val="dash"/>
          </a:ln>
        </p:spPr>
      </p:sp>
      <p:sp>
        <p:nvSpPr>
          <p:cNvPr id="17" name="Shape 14"/>
          <p:cNvSpPr/>
          <p:nvPr/>
        </p:nvSpPr>
        <p:spPr>
          <a:xfrm>
            <a:off x="822960" y="1874520"/>
            <a:ext cx="1371600" cy="0"/>
          </a:xfrm>
          <a:prstGeom prst="line">
            <a:avLst/>
          </a:prstGeom>
          <a:noFill/>
          <a:ln w="13970">
            <a:solidFill>
              <a:schemeClr val="tx2"/>
            </a:solidFill>
            <a:prstDash val="solid"/>
            <a:tailEnd type="triangle"/>
          </a:ln>
        </p:spPr>
      </p:sp>
      <p:sp>
        <p:nvSpPr>
          <p:cNvPr id="18" name="Text 15"/>
          <p:cNvSpPr txBox="1"/>
          <p:nvPr/>
        </p:nvSpPr>
        <p:spPr>
          <a:xfrm>
            <a:off x="1097280" y="1691640"/>
            <a:ext cx="1463040" cy="182880"/>
          </a:xfrm>
          <a:prstGeom prst="rect">
            <a:avLst/>
          </a:prstGeom>
          <a:noFill/>
          <a:ln/>
        </p:spPr>
        <p:txBody>
          <a:bodyPr wrap="square" lIns="0" tIns="0" rIns="0" bIns="0" rtlCol="0" anchor="t"/>
          <a:lstStyle/>
          <a:p>
            <a:pPr algn="ctr" indent="0" marL="0">
              <a:buNone/>
            </a:pPr>
            <a:r>
              <a:rPr lang="en-US" sz="800" dirty="0">
                <a:solidFill>
                  <a:schemeClr val="accent5"/>
                </a:solidFill>
              </a:rPr>
              <a:t>Bearer token</a:t>
            </a:r>
            <a:endParaRPr lang="en-US" sz="800" dirty="0"/>
          </a:p>
        </p:txBody>
      </p:sp>
      <p:sp>
        <p:nvSpPr>
          <p:cNvPr id="19" name="Text 16"/>
          <p:cNvSpPr txBox="1"/>
          <p:nvPr/>
        </p:nvSpPr>
        <p:spPr>
          <a:xfrm>
            <a:off x="1097280" y="2011680"/>
            <a:ext cx="2194560" cy="320040"/>
          </a:xfrm>
          <a:prstGeom prst="rect">
            <a:avLst/>
          </a:prstGeom>
          <a:noFill/>
          <a:ln/>
        </p:spPr>
        <p:txBody>
          <a:bodyPr wrap="square" lIns="0" tIns="0" rIns="0" bIns="0" rtlCol="0" anchor="t"/>
          <a:lstStyle/>
          <a:p>
            <a:pPr algn="ctr" indent="0" marL="0">
              <a:buNone/>
            </a:pPr>
            <a:r>
              <a:rPr lang="en-US" sz="800" dirty="0">
                <a:solidFill>
                  <a:schemeClr val="accent5"/>
                </a:solidFill>
              </a:rPr>
              <a:t>Verify signature, issuer, expiry; path rules</a:t>
            </a:r>
            <a:endParaRPr lang="en-US" sz="800" dirty="0"/>
          </a:p>
        </p:txBody>
      </p:sp>
      <p:sp>
        <p:nvSpPr>
          <p:cNvPr id="20" name="Shape 17"/>
          <p:cNvSpPr/>
          <p:nvPr/>
        </p:nvSpPr>
        <p:spPr>
          <a:xfrm>
            <a:off x="2194560" y="2514600"/>
            <a:ext cx="1371600" cy="0"/>
          </a:xfrm>
          <a:prstGeom prst="line">
            <a:avLst/>
          </a:prstGeom>
          <a:noFill/>
          <a:ln w="13970">
            <a:solidFill>
              <a:schemeClr val="tx2"/>
            </a:solidFill>
            <a:prstDash val="solid"/>
            <a:tailEnd type="triangle"/>
          </a:ln>
        </p:spPr>
      </p:sp>
      <p:sp>
        <p:nvSpPr>
          <p:cNvPr id="21" name="Text 18"/>
          <p:cNvSpPr txBox="1"/>
          <p:nvPr/>
        </p:nvSpPr>
        <p:spPr>
          <a:xfrm>
            <a:off x="2194560" y="2331720"/>
            <a:ext cx="1463040" cy="182880"/>
          </a:xfrm>
          <a:prstGeom prst="rect">
            <a:avLst/>
          </a:prstGeom>
          <a:noFill/>
          <a:ln/>
        </p:spPr>
        <p:txBody>
          <a:bodyPr wrap="square" lIns="0" tIns="0" rIns="0" bIns="0" rtlCol="0" anchor="t"/>
          <a:lstStyle/>
          <a:p>
            <a:pPr algn="ctr" indent="0" marL="0">
              <a:buNone/>
            </a:pPr>
            <a:r>
              <a:rPr lang="en-US" sz="800" dirty="0">
                <a:solidFill>
                  <a:schemeClr val="accent5"/>
                </a:solidFill>
              </a:rPr>
              <a:t>Forward + role authority</a:t>
            </a:r>
            <a:endParaRPr lang="en-US" sz="800" dirty="0"/>
          </a:p>
        </p:txBody>
      </p:sp>
      <p:sp>
        <p:nvSpPr>
          <p:cNvPr id="22" name="Text 19"/>
          <p:cNvSpPr txBox="1"/>
          <p:nvPr/>
        </p:nvSpPr>
        <p:spPr>
          <a:xfrm>
            <a:off x="2743200" y="2651760"/>
            <a:ext cx="1645920" cy="320040"/>
          </a:xfrm>
          <a:prstGeom prst="rect">
            <a:avLst/>
          </a:prstGeom>
          <a:noFill/>
          <a:ln/>
        </p:spPr>
        <p:txBody>
          <a:bodyPr wrap="square" lIns="0" tIns="0" rIns="0" bIns="0" rtlCol="0" anchor="t"/>
          <a:lstStyle/>
          <a:p>
            <a:pPr algn="ctr" indent="0" marL="0">
              <a:buNone/>
            </a:pPr>
            <a:r>
              <a:rPr lang="en-US" sz="800" dirty="0">
                <a:solidFill>
                  <a:schemeClr val="accent5"/>
                </a:solidFill>
              </a:rPr>
              <a:t>Validate token again; @PreAuthorize</a:t>
            </a:r>
            <a:endParaRPr lang="en-US" sz="800" dirty="0"/>
          </a:p>
        </p:txBody>
      </p:sp>
      <p:sp>
        <p:nvSpPr>
          <p:cNvPr id="23" name="Shape 20"/>
          <p:cNvSpPr/>
          <p:nvPr/>
        </p:nvSpPr>
        <p:spPr>
          <a:xfrm>
            <a:off x="3566160" y="3200400"/>
            <a:ext cx="1371600" cy="0"/>
          </a:xfrm>
          <a:prstGeom prst="line">
            <a:avLst/>
          </a:prstGeom>
          <a:noFill/>
          <a:ln w="13970">
            <a:solidFill>
              <a:schemeClr val="tx2"/>
            </a:solidFill>
            <a:prstDash val="solid"/>
            <a:tailEnd type="triangle"/>
          </a:ln>
        </p:spPr>
      </p:sp>
      <p:sp>
        <p:nvSpPr>
          <p:cNvPr id="24" name="Text 21"/>
          <p:cNvSpPr txBox="1"/>
          <p:nvPr/>
        </p:nvSpPr>
        <p:spPr>
          <a:xfrm>
            <a:off x="3566160" y="3017520"/>
            <a:ext cx="1371600" cy="182880"/>
          </a:xfrm>
          <a:prstGeom prst="rect">
            <a:avLst/>
          </a:prstGeom>
          <a:noFill/>
          <a:ln/>
        </p:spPr>
        <p:txBody>
          <a:bodyPr wrap="square" lIns="0" tIns="0" rIns="0" bIns="0" rtlCol="0" anchor="t"/>
          <a:lstStyle/>
          <a:p>
            <a:pPr algn="ctr" indent="0" marL="0">
              <a:buNone/>
            </a:pPr>
            <a:r>
              <a:rPr lang="en-US" sz="800" dirty="0">
                <a:solidFill>
                  <a:schemeClr val="accent5"/>
                </a:solidFill>
              </a:rPr>
              <a:t>Read / write own tables</a:t>
            </a:r>
            <a:endParaRPr lang="en-US" sz="800" dirty="0"/>
          </a:p>
        </p:txBody>
      </p:sp>
      <p:sp>
        <p:nvSpPr>
          <p:cNvPr id="25" name="Shape 22"/>
          <p:cNvSpPr/>
          <p:nvPr/>
        </p:nvSpPr>
        <p:spPr>
          <a:xfrm flipH="1">
            <a:off x="822960" y="3749040"/>
            <a:ext cx="4114800" cy="0"/>
          </a:xfrm>
          <a:prstGeom prst="line">
            <a:avLst/>
          </a:prstGeom>
          <a:noFill/>
          <a:ln w="13970">
            <a:solidFill>
              <a:schemeClr val="tx2"/>
            </a:solidFill>
            <a:prstDash val="solid"/>
            <a:tailEnd type="triangle"/>
          </a:ln>
        </p:spPr>
      </p:sp>
      <p:sp>
        <p:nvSpPr>
          <p:cNvPr id="26" name="Text 23"/>
          <p:cNvSpPr txBox="1"/>
          <p:nvPr/>
        </p:nvSpPr>
        <p:spPr>
          <a:xfrm>
            <a:off x="1371600" y="3566160"/>
            <a:ext cx="2743200" cy="182880"/>
          </a:xfrm>
          <a:prstGeom prst="rect">
            <a:avLst/>
          </a:prstGeom>
          <a:noFill/>
          <a:ln/>
        </p:spPr>
        <p:txBody>
          <a:bodyPr wrap="square" lIns="0" tIns="0" rIns="0" bIns="0" rtlCol="0" anchor="t"/>
          <a:lstStyle/>
          <a:p>
            <a:pPr algn="ctr" indent="0" marL="0">
              <a:buNone/>
            </a:pPr>
            <a:r>
              <a:rPr lang="en-US" sz="800" dirty="0">
                <a:solidFill>
                  <a:schemeClr val="accent5"/>
                </a:solidFill>
              </a:rPr>
              <a:t>Response via gateway</a:t>
            </a:r>
            <a:endParaRPr lang="en-US" sz="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852160" y="1280160"/>
          <a:ext cx="2834640" cy="914400"/>
        </p:xfrm>
        <a:graphic>
          <a:graphicData uri="http://schemas.openxmlformats.org/drawingml/2006/table">
            <a:tbl>
              <a:tblPr/>
              <a:tblGrid>
                <a:gridCol w="1234440"/>
                <a:gridCol w="1600200"/>
              </a:tblGrid>
              <a:tr h="0">
                <a:tc>
                  <a:txBody>
                    <a:bodyPr/>
                    <a:lstStyle/>
                    <a:p>
                      <a:pPr indent="0" marL="0">
                        <a:buNone/>
                      </a:pPr>
                      <a:r>
                        <a:rPr lang="en-US" sz="800" b="1" dirty="0">
                          <a:solidFill>
                            <a:srgbClr val="FFFFFF"/>
                          </a:solidFill>
                          <a:latin typeface="Manrope" pitchFamily="34" charset="0"/>
                          <a:ea typeface="Manrope" pitchFamily="34" charset="-122"/>
                          <a:cs typeface="Manrope" pitchFamily="34" charset="-120"/>
                        </a:rPr>
                        <a:t>Role claim</a:t>
                      </a:r>
                      <a:endParaRPr lang="en-US" sz="80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800" b="1" dirty="0">
                          <a:solidFill>
                            <a:srgbClr val="FFFFFF"/>
                          </a:solidFill>
                          <a:latin typeface="Manrope" pitchFamily="34" charset="0"/>
                          <a:ea typeface="Manrope" pitchFamily="34" charset="-122"/>
                          <a:cs typeface="Manrope" pitchFamily="34" charset="-120"/>
                        </a:rPr>
                        <a:t>Typical access</a:t>
                      </a:r>
                      <a:endParaRPr lang="en-US" sz="80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r>
              <a:tr h="0">
                <a:tc>
                  <a:txBody>
                    <a:bodyPr/>
                    <a:lstStyle/>
                    <a:p>
                      <a:pPr indent="0" marL="0">
                        <a:buNone/>
                      </a:pPr>
                      <a:r>
                        <a:rPr lang="en-US" sz="900" dirty="0">
                          <a:solidFill>
                            <a:srgbClr val="211E1F"/>
                          </a:solidFill>
                        </a:rPr>
                        <a:t>CUSTOMER</a:t>
                      </a:r>
                      <a:endParaRPr lang="en-US" sz="9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900" dirty="0">
                          <a:solidFill>
                            <a:srgbClr val="211E1F"/>
                          </a:solidFill>
                        </a:rPr>
                        <a:t>Own company data, quotes, claims</a:t>
                      </a:r>
                      <a:endParaRPr lang="en-US" sz="9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11E1F"/>
                          </a:solidFill>
                        </a:rPr>
                        <a:t>UNDERWRITER</a:t>
                      </a:r>
                      <a:endParaRPr lang="en-US" sz="9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900" dirty="0">
                          <a:solidFill>
                            <a:srgbClr val="211E1F"/>
                          </a:solidFill>
                        </a:rPr>
                        <a:t>Quote / endorsement decisions</a:t>
                      </a:r>
                      <a:endParaRPr lang="en-US" sz="9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900" dirty="0">
                          <a:solidFill>
                            <a:srgbClr val="211E1F"/>
                          </a:solidFill>
                        </a:rPr>
                        <a:t>POLICY_OFFICER</a:t>
                      </a:r>
                      <a:endParaRPr lang="en-US" sz="9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900" dirty="0">
                          <a:solidFill>
                            <a:srgbClr val="211E1F"/>
                          </a:solidFill>
                        </a:rPr>
                        <a:t>Issue policies, invoices</a:t>
                      </a:r>
                      <a:endParaRPr lang="en-US" sz="9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11E1F"/>
                          </a:solidFill>
                        </a:rPr>
                        <a:t>CLAIMS_OFFICER</a:t>
                      </a:r>
                      <a:endParaRPr lang="en-US" sz="9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900" dirty="0">
                          <a:solidFill>
                            <a:srgbClr val="211E1F"/>
                          </a:solidFill>
                        </a:rPr>
                        <a:t>Claim assessment, settlement</a:t>
                      </a:r>
                      <a:endParaRPr lang="en-US" sz="9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900" dirty="0">
                          <a:solidFill>
                            <a:srgbClr val="211E1F"/>
                          </a:solidFill>
                        </a:rPr>
                        <a:t>ADMIN</a:t>
                      </a:r>
                      <a:endParaRPr lang="en-US" sz="9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900" dirty="0">
                          <a:solidFill>
                            <a:srgbClr val="211E1F"/>
                          </a:solidFill>
                        </a:rPr>
                        <a:t>/api/v1/admin/**, staff ops</a:t>
                      </a:r>
                      <a:endParaRPr lang="en-US" sz="9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bl>
          </a:graphicData>
        </a:graphic>
      </p:graphicFrame>
      <p:sp>
        <p:nvSpPr>
          <p:cNvPr id="28" name="Text 24"/>
          <p:cNvSpPr txBox="1"/>
          <p:nvPr/>
        </p:nvSpPr>
        <p:spPr>
          <a:xfrm>
            <a:off x="457200" y="4160520"/>
            <a:ext cx="8229600" cy="457200"/>
          </a:xfrm>
          <a:prstGeom prst="rect">
            <a:avLst/>
          </a:prstGeom>
          <a:noFill/>
          <a:ln/>
        </p:spPr>
        <p:txBody>
          <a:bodyPr wrap="square" lIns="0" tIns="0" rIns="0" bIns="0" rtlCol="0" anchor="t"/>
          <a:lstStyle/>
          <a:p>
            <a:pPr indent="0" marL="0">
              <a:buNone/>
            </a:pPr>
            <a:r>
              <a:rPr lang="en-US" sz="950" dirty="0">
                <a:solidFill>
                  <a:schemeClr val="accent5"/>
                </a:solidFill>
              </a:rPr>
              <a:t>Gateway: /internal/** denied; /api/v1/admin/ ADMIN only; /api/v1/** authenticated. Frontend guards: authGuard, roleRedirectGuard, passwordChangeRequiredGuard.</a:t>
            </a:r>
            <a:endParaRPr lang="en-US" sz="95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100" b="1" dirty="0">
                <a:solidFill>
                  <a:schemeClr val="tx2"/>
                </a:solidFill>
                <a:latin typeface="Manrope" pitchFamily="34" charset="0"/>
                <a:ea typeface="Manrope" pitchFamily="34" charset="-122"/>
                <a:cs typeface="Manrope" pitchFamily="34" charset="-120"/>
              </a:rPr>
              <a:t>Security review found gaps to close before production</a:t>
            </a:r>
            <a:endParaRPr lang="en-US" sz="2100" dirty="0"/>
          </a:p>
        </p:txBody>
      </p:sp>
      <p:sp>
        <p:nvSpPr>
          <p:cNvPr id="4" name="Text 1"/>
          <p:cNvSpPr txBox="1"/>
          <p:nvPr/>
        </p:nvSpPr>
        <p:spPr>
          <a:xfrm>
            <a:off x="457200" y="868680"/>
            <a:ext cx="8229600" cy="274320"/>
          </a:xfrm>
          <a:prstGeom prst="rect">
            <a:avLst/>
          </a:prstGeom>
          <a:noFill/>
          <a:ln/>
        </p:spPr>
        <p:txBody>
          <a:bodyPr wrap="square" lIns="0" tIns="0" rIns="0" bIns="0" rtlCol="0" anchor="t"/>
          <a:lstStyle/>
          <a:p>
            <a:pPr indent="0" marL="0">
              <a:buNone/>
            </a:pPr>
            <a:r>
              <a:rPr lang="en-US" sz="1150" i="1" dirty="0">
                <a:solidFill>
                  <a:schemeClr val="accent5"/>
                </a:solidFill>
              </a:rPr>
              <a:t>Findings from code review (not runtime-tested); all are proposed fixes, not implemented.</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822960"/>
                <a:gridCol w="4206240"/>
                <a:gridCol w="3200400"/>
              </a:tblGrid>
              <a:tr h="0">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ID</a:t>
                      </a:r>
                      <a:endParaRPr lang="en-US" sz="9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Finding</a:t>
                      </a:r>
                      <a:endParaRPr lang="en-US" sz="9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Proposed fix</a:t>
                      </a:r>
                      <a:endParaRPr lang="en-US" sz="9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r>
              <a:tr h="0">
                <a:tc>
                  <a:txBody>
                    <a:bodyPr/>
                    <a:lstStyle/>
                    <a:p>
                      <a:pPr indent="0" marL="0">
                        <a:buNone/>
                      </a:pPr>
                      <a:r>
                        <a:rPr lang="en-US" sz="1050" dirty="0">
                          <a:solidFill>
                            <a:srgbClr val="211E1F"/>
                          </a:solidFill>
                        </a:rPr>
                        <a:t>SEC-01</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Invoice and payment reads lack company ownership check</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Add company comparison in services</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211E1F"/>
                          </a:solidFill>
                        </a:rPr>
                        <a:t>SEC-02</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Refresh tokens not rejected by resource servers</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Enforce tokenType ACCESS everywhere</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050" dirty="0">
                          <a:solidFill>
                            <a:srgbClr val="211E1F"/>
                          </a:solidFill>
                        </a:rPr>
                        <a:t>SEC-03</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No lockout; failed-login counter never incremented</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Count failures and lock account</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211E1F"/>
                          </a:solidFill>
                        </a:rPr>
                        <a:t>SEC-04/05</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Some /internal endpoints public; payment-status rule shadowed</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Service auth; fix rule order</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050" dirty="0">
                          <a:solidFill>
                            <a:srgbClr val="211E1F"/>
                          </a:solidFill>
                        </a:rPr>
                        <a:t>SEC-06</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Public bulk registration, no rate limit</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Rate limit or restrict</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211E1F"/>
                          </a:solidFill>
                        </a:rPr>
                        <a:t>SEC-07/08</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Session in sessionStorage; no logout or revocation</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Revocation list, logout</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050" dirty="0">
                          <a:solidFill>
                            <a:srgbClr val="211E1F"/>
                          </a:solidFill>
                        </a:rPr>
                        <a:t>SEC-09</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One shared HS256 secret across services</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Asymmetric signing with JWKS</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100" b="1" dirty="0">
                <a:solidFill>
                  <a:schemeClr val="tx2"/>
                </a:solidFill>
                <a:latin typeface="Manrope" pitchFamily="34" charset="0"/>
                <a:ea typeface="Manrope" pitchFamily="34" charset="-122"/>
                <a:cs typeface="Manrope" pitchFamily="34" charset="-120"/>
              </a:rPr>
              <a:t>Five service databases, 17 tables</a:t>
            </a:r>
            <a:endParaRPr lang="en-US" sz="2100" dirty="0"/>
          </a:p>
        </p:txBody>
      </p:sp>
      <p:sp>
        <p:nvSpPr>
          <p:cNvPr id="4" name="Text 1"/>
          <p:cNvSpPr txBox="1"/>
          <p:nvPr/>
        </p:nvSpPr>
        <p:spPr>
          <a:xfrm>
            <a:off x="457200" y="868680"/>
            <a:ext cx="8229600" cy="274320"/>
          </a:xfrm>
          <a:prstGeom prst="rect">
            <a:avLst/>
          </a:prstGeom>
          <a:noFill/>
          <a:ln/>
        </p:spPr>
        <p:txBody>
          <a:bodyPr wrap="square" lIns="0" tIns="0" rIns="0" bIns="0" rtlCol="0" anchor="t"/>
          <a:lstStyle/>
          <a:p>
            <a:pPr indent="0" marL="0">
              <a:buNone/>
            </a:pPr>
            <a:r>
              <a:rPr lang="en-US" sz="1150" i="1" dirty="0">
                <a:solidFill>
                  <a:schemeClr val="accent5"/>
                </a:solidFill>
              </a:rPr>
              <a:t>ER overview: arrows are foreign keys; dashed arrows are logical cross-database references.</a:t>
            </a:r>
            <a:endParaRPr lang="en-US" sz="1150" dirty="0"/>
          </a:p>
        </p:txBody>
      </p:sp>
      <p:sp>
        <p:nvSpPr>
          <p:cNvPr id="5" name="Shape 2"/>
          <p:cNvSpPr/>
          <p:nvPr/>
        </p:nvSpPr>
        <p:spPr>
          <a:xfrm>
            <a:off x="457200" y="1280160"/>
            <a:ext cx="1371600" cy="822960"/>
          </a:xfrm>
          <a:prstGeom prst="rect">
            <a:avLst/>
          </a:prstGeom>
          <a:solidFill>
            <a:schemeClr val="bg1"/>
          </a:solidFill>
          <a:ln w="12700">
            <a:solidFill>
              <a:schemeClr val="tx2"/>
            </a:solidFill>
            <a:prstDash val="solid"/>
          </a:ln>
        </p:spPr>
      </p:sp>
      <p:sp>
        <p:nvSpPr>
          <p:cNvPr id="6" name="Shape 3"/>
          <p:cNvSpPr/>
          <p:nvPr/>
        </p:nvSpPr>
        <p:spPr>
          <a:xfrm>
            <a:off x="457200" y="1280160"/>
            <a:ext cx="1371600" cy="256032"/>
          </a:xfrm>
          <a:prstGeom prst="rect">
            <a:avLst/>
          </a:prstGeom>
          <a:solidFill>
            <a:schemeClr val="tx2"/>
          </a:solidFill>
          <a:ln w="12700">
            <a:solidFill>
              <a:schemeClr val="tx2"/>
            </a:solidFill>
            <a:prstDash val="solid"/>
          </a:ln>
        </p:spPr>
      </p:sp>
      <p:sp>
        <p:nvSpPr>
          <p:cNvPr id="7" name="Text 4"/>
          <p:cNvSpPr txBox="1"/>
          <p:nvPr/>
        </p:nvSpPr>
        <p:spPr>
          <a:xfrm>
            <a:off x="457200" y="1280160"/>
            <a:ext cx="1371600" cy="256032"/>
          </a:xfrm>
          <a:prstGeom prst="rect">
            <a:avLst/>
          </a:prstGeom>
          <a:noFill/>
          <a:ln/>
        </p:spPr>
        <p:txBody>
          <a:bodyPr wrap="square" lIns="0" tIns="0" rIns="0" bIns="0" rtlCol="0" anchor="ctr"/>
          <a:lstStyle/>
          <a:p>
            <a:pPr algn="ctr" indent="0" marL="0">
              <a:buNone/>
            </a:pPr>
            <a:r>
              <a:rPr lang="en-US" sz="850" b="1" dirty="0">
                <a:solidFill>
                  <a:schemeClr val="bg1"/>
                </a:solidFill>
              </a:rPr>
              <a:t>auth</a:t>
            </a:r>
            <a:endParaRPr lang="en-US" sz="850" dirty="0"/>
          </a:p>
        </p:txBody>
      </p:sp>
      <p:sp>
        <p:nvSpPr>
          <p:cNvPr id="8" name="Text 5"/>
          <p:cNvSpPr txBox="1"/>
          <p:nvPr/>
        </p:nvSpPr>
        <p:spPr>
          <a:xfrm>
            <a:off x="530352" y="1600200"/>
            <a:ext cx="1225296" cy="457200"/>
          </a:xfrm>
          <a:prstGeom prst="rect">
            <a:avLst/>
          </a:prstGeom>
          <a:noFill/>
          <a:ln/>
        </p:spPr>
        <p:txBody>
          <a:bodyPr wrap="square" lIns="0" tIns="0" rIns="0" bIns="0" rtlCol="0" anchor="t"/>
          <a:lstStyle/>
          <a:p>
            <a:pPr indent="0" marL="0">
              <a:buNone/>
            </a:pPr>
            <a:r>
              <a:rPr lang="en-US" sz="850" dirty="0">
                <a:solidFill>
                  <a:schemeClr val="tx1"/>
                </a:solidFill>
              </a:rPr>
              <a:t>users</a:t>
            </a:r>
            <a:endParaRPr lang="en-US" sz="850" dirty="0"/>
          </a:p>
        </p:txBody>
      </p:sp>
      <p:sp>
        <p:nvSpPr>
          <p:cNvPr id="9" name="Shape 6"/>
          <p:cNvSpPr/>
          <p:nvPr/>
        </p:nvSpPr>
        <p:spPr>
          <a:xfrm>
            <a:off x="2194560" y="1280160"/>
            <a:ext cx="2377440" cy="1600200"/>
          </a:xfrm>
          <a:prstGeom prst="rect">
            <a:avLst/>
          </a:prstGeom>
          <a:solidFill>
            <a:schemeClr val="bg1"/>
          </a:solidFill>
          <a:ln w="12700">
            <a:solidFill>
              <a:schemeClr val="tx2"/>
            </a:solidFill>
            <a:prstDash val="solid"/>
          </a:ln>
        </p:spPr>
      </p:sp>
      <p:sp>
        <p:nvSpPr>
          <p:cNvPr id="10" name="Shape 7"/>
          <p:cNvSpPr/>
          <p:nvPr/>
        </p:nvSpPr>
        <p:spPr>
          <a:xfrm>
            <a:off x="2194560" y="1280160"/>
            <a:ext cx="2377440" cy="256032"/>
          </a:xfrm>
          <a:prstGeom prst="rect">
            <a:avLst/>
          </a:prstGeom>
          <a:solidFill>
            <a:schemeClr val="tx2"/>
          </a:solidFill>
          <a:ln w="12700">
            <a:solidFill>
              <a:schemeClr val="tx2"/>
            </a:solidFill>
            <a:prstDash val="solid"/>
          </a:ln>
        </p:spPr>
      </p:sp>
      <p:sp>
        <p:nvSpPr>
          <p:cNvPr id="11" name="Text 8"/>
          <p:cNvSpPr txBox="1"/>
          <p:nvPr/>
        </p:nvSpPr>
        <p:spPr>
          <a:xfrm>
            <a:off x="2194560" y="1280160"/>
            <a:ext cx="2377440" cy="256032"/>
          </a:xfrm>
          <a:prstGeom prst="rect">
            <a:avLst/>
          </a:prstGeom>
          <a:noFill/>
          <a:ln/>
        </p:spPr>
        <p:txBody>
          <a:bodyPr wrap="square" lIns="0" tIns="0" rIns="0" bIns="0" rtlCol="0" anchor="ctr"/>
          <a:lstStyle/>
          <a:p>
            <a:pPr algn="ctr" indent="0" marL="0">
              <a:buNone/>
            </a:pPr>
            <a:r>
              <a:rPr lang="en-US" sz="850" b="1" dirty="0">
                <a:solidFill>
                  <a:schemeClr val="bg1"/>
                </a:solidFill>
              </a:rPr>
              <a:t>equipment</a:t>
            </a:r>
            <a:endParaRPr lang="en-US" sz="850" dirty="0"/>
          </a:p>
        </p:txBody>
      </p:sp>
      <p:sp>
        <p:nvSpPr>
          <p:cNvPr id="12" name="Text 9"/>
          <p:cNvSpPr txBox="1"/>
          <p:nvPr/>
        </p:nvSpPr>
        <p:spPr>
          <a:xfrm>
            <a:off x="2267712" y="1600200"/>
            <a:ext cx="2231136" cy="1234440"/>
          </a:xfrm>
          <a:prstGeom prst="rect">
            <a:avLst/>
          </a:prstGeom>
          <a:noFill/>
          <a:ln/>
        </p:spPr>
        <p:txBody>
          <a:bodyPr wrap="square" lIns="0" tIns="0" rIns="0" bIns="0" rtlCol="0" anchor="t"/>
          <a:lstStyle/>
          <a:p>
            <a:pPr indent="0" marL="0">
              <a:buNone/>
            </a:pPr>
            <a:r>
              <a:rPr lang="en-US" sz="850" dirty="0">
                <a:solidFill>
                  <a:schemeClr val="tx1"/>
                </a:solidFill>
              </a:rPr>
              <a:t>companies</a:t>
            </a:r>
            <a:endParaRPr lang="en-US" sz="850" dirty="0"/>
          </a:p>
          <a:p>
            <a:pPr indent="0" marL="0">
              <a:buNone/>
            </a:pPr>
            <a:r>
              <a:rPr lang="en-US" sz="850" dirty="0">
                <a:solidFill>
                  <a:schemeClr val="tx1"/>
                </a:solidFill>
              </a:rPr>
              <a:t>equipment (FK company)</a:t>
            </a:r>
            <a:endParaRPr lang="en-US" sz="850" dirty="0"/>
          </a:p>
          <a:p>
            <a:pPr indent="0" marL="0">
              <a:buNone/>
            </a:pPr>
            <a:r>
              <a:rPr lang="en-US" sz="850" dirty="0">
                <a:solidFill>
                  <a:schemeClr val="tx1"/>
                </a:solidFill>
              </a:rPr>
              <a:t>operators, project_sites</a:t>
            </a:r>
            <a:endParaRPr lang="en-US" sz="850" dirty="0"/>
          </a:p>
          <a:p>
            <a:pPr indent="0" marL="0">
              <a:buNone/>
            </a:pPr>
            <a:r>
              <a:rPr lang="en-US" sz="850" dirty="0">
                <a:solidFill>
                  <a:schemeClr val="tx1"/>
                </a:solidFill>
              </a:rPr>
              <a:t>maintenance_records</a:t>
            </a:r>
            <a:endParaRPr lang="en-US" sz="850" dirty="0"/>
          </a:p>
          <a:p>
            <a:pPr indent="0" marL="0">
              <a:buNone/>
            </a:pPr>
            <a:r>
              <a:rPr lang="en-US" sz="850" dirty="0">
                <a:solidFill>
                  <a:schemeClr val="tx1"/>
                </a:solidFill>
              </a:rPr>
              <a:t>equipment_assignments</a:t>
            </a:r>
            <a:endParaRPr lang="en-US" sz="850" dirty="0"/>
          </a:p>
        </p:txBody>
      </p:sp>
      <p:sp>
        <p:nvSpPr>
          <p:cNvPr id="13" name="Shape 10"/>
          <p:cNvSpPr/>
          <p:nvPr/>
        </p:nvSpPr>
        <p:spPr>
          <a:xfrm>
            <a:off x="4937760" y="1280160"/>
            <a:ext cx="2011680" cy="1600200"/>
          </a:xfrm>
          <a:prstGeom prst="rect">
            <a:avLst/>
          </a:prstGeom>
          <a:solidFill>
            <a:schemeClr val="bg1"/>
          </a:solidFill>
          <a:ln w="12700">
            <a:solidFill>
              <a:schemeClr val="tx2"/>
            </a:solidFill>
            <a:prstDash val="solid"/>
          </a:ln>
        </p:spPr>
      </p:sp>
      <p:sp>
        <p:nvSpPr>
          <p:cNvPr id="14" name="Shape 11"/>
          <p:cNvSpPr/>
          <p:nvPr/>
        </p:nvSpPr>
        <p:spPr>
          <a:xfrm>
            <a:off x="4937760" y="1280160"/>
            <a:ext cx="2011680" cy="256032"/>
          </a:xfrm>
          <a:prstGeom prst="rect">
            <a:avLst/>
          </a:prstGeom>
          <a:solidFill>
            <a:schemeClr val="tx2"/>
          </a:solidFill>
          <a:ln w="12700">
            <a:solidFill>
              <a:schemeClr val="tx2"/>
            </a:solidFill>
            <a:prstDash val="solid"/>
          </a:ln>
        </p:spPr>
      </p:sp>
      <p:sp>
        <p:nvSpPr>
          <p:cNvPr id="15" name="Text 12"/>
          <p:cNvSpPr txBox="1"/>
          <p:nvPr/>
        </p:nvSpPr>
        <p:spPr>
          <a:xfrm>
            <a:off x="4937760" y="1280160"/>
            <a:ext cx="2011680" cy="256032"/>
          </a:xfrm>
          <a:prstGeom prst="rect">
            <a:avLst/>
          </a:prstGeom>
          <a:noFill/>
          <a:ln/>
        </p:spPr>
        <p:txBody>
          <a:bodyPr wrap="square" lIns="0" tIns="0" rIns="0" bIns="0" rtlCol="0" anchor="ctr"/>
          <a:lstStyle/>
          <a:p>
            <a:pPr algn="ctr" indent="0" marL="0">
              <a:buNone/>
            </a:pPr>
            <a:r>
              <a:rPr lang="en-US" sz="850" b="1" dirty="0">
                <a:solidFill>
                  <a:schemeClr val="bg1"/>
                </a:solidFill>
              </a:rPr>
              <a:t>underwriting</a:t>
            </a:r>
            <a:endParaRPr lang="en-US" sz="850" dirty="0"/>
          </a:p>
        </p:txBody>
      </p:sp>
      <p:sp>
        <p:nvSpPr>
          <p:cNvPr id="16" name="Text 13"/>
          <p:cNvSpPr txBox="1"/>
          <p:nvPr/>
        </p:nvSpPr>
        <p:spPr>
          <a:xfrm>
            <a:off x="5010912" y="1600200"/>
            <a:ext cx="1865376" cy="1234440"/>
          </a:xfrm>
          <a:prstGeom prst="rect">
            <a:avLst/>
          </a:prstGeom>
          <a:noFill/>
          <a:ln/>
        </p:spPr>
        <p:txBody>
          <a:bodyPr wrap="square" lIns="0" tIns="0" rIns="0" bIns="0" rtlCol="0" anchor="t"/>
          <a:lstStyle/>
          <a:p>
            <a:pPr indent="0" marL="0">
              <a:buNone/>
            </a:pPr>
            <a:r>
              <a:rPr lang="en-US" sz="850" dirty="0">
                <a:solidFill>
                  <a:schemeClr val="tx1"/>
                </a:solidFill>
              </a:rPr>
              <a:t>quotes</a:t>
            </a:r>
            <a:endParaRPr lang="en-US" sz="850" dirty="0"/>
          </a:p>
          <a:p>
            <a:pPr indent="0" marL="0">
              <a:buNone/>
            </a:pPr>
            <a:r>
              <a:rPr lang="en-US" sz="850" dirty="0">
                <a:solidFill>
                  <a:schemeClr val="tx1"/>
                </a:solidFill>
              </a:rPr>
              <a:t>risk_assessments (FK quote)</a:t>
            </a:r>
            <a:endParaRPr lang="en-US" sz="850" dirty="0"/>
          </a:p>
          <a:p>
            <a:pPr indent="0" marL="0">
              <a:buNone/>
            </a:pPr>
            <a:r>
              <a:rPr lang="en-US" sz="850" dirty="0">
                <a:solidFill>
                  <a:schemeClr val="tx1"/>
                </a:solidFill>
              </a:rPr>
              <a:t>policies (from quote)</a:t>
            </a:r>
            <a:endParaRPr lang="en-US" sz="850" dirty="0"/>
          </a:p>
          <a:p>
            <a:pPr indent="0" marL="0">
              <a:buNone/>
            </a:pPr>
            <a:r>
              <a:rPr lang="en-US" sz="850" dirty="0">
                <a:solidFill>
                  <a:schemeClr val="tx1"/>
                </a:solidFill>
              </a:rPr>
              <a:t>policy_equipment</a:t>
            </a:r>
            <a:endParaRPr lang="en-US" sz="850" dirty="0"/>
          </a:p>
          <a:p>
            <a:pPr indent="0" marL="0">
              <a:buNone/>
            </a:pPr>
            <a:r>
              <a:rPr lang="en-US" sz="850" dirty="0">
                <a:solidFill>
                  <a:schemeClr val="tx1"/>
                </a:solidFill>
              </a:rPr>
              <a:t>endorsements (FK policy)</a:t>
            </a:r>
            <a:endParaRPr lang="en-US" sz="850" dirty="0"/>
          </a:p>
        </p:txBody>
      </p:sp>
      <p:sp>
        <p:nvSpPr>
          <p:cNvPr id="17" name="Shape 14"/>
          <p:cNvSpPr/>
          <p:nvPr/>
        </p:nvSpPr>
        <p:spPr>
          <a:xfrm>
            <a:off x="2194560" y="3200400"/>
            <a:ext cx="2011680" cy="1097280"/>
          </a:xfrm>
          <a:prstGeom prst="rect">
            <a:avLst/>
          </a:prstGeom>
          <a:solidFill>
            <a:schemeClr val="bg1"/>
          </a:solidFill>
          <a:ln w="12700">
            <a:solidFill>
              <a:schemeClr val="tx2"/>
            </a:solidFill>
            <a:prstDash val="solid"/>
          </a:ln>
        </p:spPr>
      </p:sp>
      <p:sp>
        <p:nvSpPr>
          <p:cNvPr id="18" name="Shape 15"/>
          <p:cNvSpPr/>
          <p:nvPr/>
        </p:nvSpPr>
        <p:spPr>
          <a:xfrm>
            <a:off x="2194560" y="3200400"/>
            <a:ext cx="2011680" cy="256032"/>
          </a:xfrm>
          <a:prstGeom prst="rect">
            <a:avLst/>
          </a:prstGeom>
          <a:solidFill>
            <a:schemeClr val="tx2"/>
          </a:solidFill>
          <a:ln w="12700">
            <a:solidFill>
              <a:schemeClr val="tx2"/>
            </a:solidFill>
            <a:prstDash val="solid"/>
          </a:ln>
        </p:spPr>
      </p:sp>
      <p:sp>
        <p:nvSpPr>
          <p:cNvPr id="19" name="Text 16"/>
          <p:cNvSpPr txBox="1"/>
          <p:nvPr/>
        </p:nvSpPr>
        <p:spPr>
          <a:xfrm>
            <a:off x="2194560" y="3200400"/>
            <a:ext cx="2011680" cy="256032"/>
          </a:xfrm>
          <a:prstGeom prst="rect">
            <a:avLst/>
          </a:prstGeom>
          <a:noFill/>
          <a:ln/>
        </p:spPr>
        <p:txBody>
          <a:bodyPr wrap="square" lIns="0" tIns="0" rIns="0" bIns="0" rtlCol="0" anchor="ctr"/>
          <a:lstStyle/>
          <a:p>
            <a:pPr algn="ctr" indent="0" marL="0">
              <a:buNone/>
            </a:pPr>
            <a:r>
              <a:rPr lang="en-US" sz="850" b="1" dirty="0">
                <a:solidFill>
                  <a:schemeClr val="bg1"/>
                </a:solidFill>
              </a:rPr>
              <a:t>claims</a:t>
            </a:r>
            <a:endParaRPr lang="en-US" sz="850" dirty="0"/>
          </a:p>
        </p:txBody>
      </p:sp>
      <p:sp>
        <p:nvSpPr>
          <p:cNvPr id="20" name="Text 17"/>
          <p:cNvSpPr txBox="1"/>
          <p:nvPr/>
        </p:nvSpPr>
        <p:spPr>
          <a:xfrm>
            <a:off x="2267712" y="3520440"/>
            <a:ext cx="1865376" cy="731520"/>
          </a:xfrm>
          <a:prstGeom prst="rect">
            <a:avLst/>
          </a:prstGeom>
          <a:noFill/>
          <a:ln/>
        </p:spPr>
        <p:txBody>
          <a:bodyPr wrap="square" lIns="0" tIns="0" rIns="0" bIns="0" rtlCol="0" anchor="t"/>
          <a:lstStyle/>
          <a:p>
            <a:pPr indent="0" marL="0">
              <a:buNone/>
            </a:pPr>
            <a:r>
              <a:rPr lang="en-US" sz="850" dirty="0">
                <a:solidFill>
                  <a:schemeClr val="tx1"/>
                </a:solidFill>
              </a:rPr>
              <a:t>claims</a:t>
            </a:r>
            <a:endParaRPr lang="en-US" sz="850" dirty="0"/>
          </a:p>
          <a:p>
            <a:pPr indent="0" marL="0">
              <a:buNone/>
            </a:pPr>
            <a:r>
              <a:rPr lang="en-US" sz="850" dirty="0">
                <a:solidFill>
                  <a:schemeClr val="tx1"/>
                </a:solidFill>
              </a:rPr>
              <a:t>claim_assessments (1:1)</a:t>
            </a:r>
            <a:endParaRPr lang="en-US" sz="850" dirty="0"/>
          </a:p>
          <a:p>
            <a:pPr indent="0" marL="0">
              <a:buNone/>
            </a:pPr>
            <a:r>
              <a:rPr lang="en-US" sz="850" dirty="0">
                <a:solidFill>
                  <a:schemeClr val="tx1"/>
                </a:solidFill>
              </a:rPr>
              <a:t>claim_settlements (1:1)</a:t>
            </a:r>
            <a:endParaRPr lang="en-US" sz="850" dirty="0"/>
          </a:p>
        </p:txBody>
      </p:sp>
      <p:sp>
        <p:nvSpPr>
          <p:cNvPr id="21" name="Shape 18"/>
          <p:cNvSpPr/>
          <p:nvPr/>
        </p:nvSpPr>
        <p:spPr>
          <a:xfrm>
            <a:off x="4937760" y="3200400"/>
            <a:ext cx="2011680" cy="1097280"/>
          </a:xfrm>
          <a:prstGeom prst="rect">
            <a:avLst/>
          </a:prstGeom>
          <a:solidFill>
            <a:schemeClr val="bg1"/>
          </a:solidFill>
          <a:ln w="12700">
            <a:solidFill>
              <a:schemeClr val="tx2"/>
            </a:solidFill>
            <a:prstDash val="solid"/>
          </a:ln>
        </p:spPr>
      </p:sp>
      <p:sp>
        <p:nvSpPr>
          <p:cNvPr id="22" name="Shape 19"/>
          <p:cNvSpPr/>
          <p:nvPr/>
        </p:nvSpPr>
        <p:spPr>
          <a:xfrm>
            <a:off x="4937760" y="3200400"/>
            <a:ext cx="2011680" cy="256032"/>
          </a:xfrm>
          <a:prstGeom prst="rect">
            <a:avLst/>
          </a:prstGeom>
          <a:solidFill>
            <a:schemeClr val="tx2"/>
          </a:solidFill>
          <a:ln w="12700">
            <a:solidFill>
              <a:schemeClr val="tx2"/>
            </a:solidFill>
            <a:prstDash val="solid"/>
          </a:ln>
        </p:spPr>
      </p:sp>
      <p:sp>
        <p:nvSpPr>
          <p:cNvPr id="23" name="Text 20"/>
          <p:cNvSpPr txBox="1"/>
          <p:nvPr/>
        </p:nvSpPr>
        <p:spPr>
          <a:xfrm>
            <a:off x="4937760" y="3200400"/>
            <a:ext cx="2011680" cy="256032"/>
          </a:xfrm>
          <a:prstGeom prst="rect">
            <a:avLst/>
          </a:prstGeom>
          <a:noFill/>
          <a:ln/>
        </p:spPr>
        <p:txBody>
          <a:bodyPr wrap="square" lIns="0" tIns="0" rIns="0" bIns="0" rtlCol="0" anchor="ctr"/>
          <a:lstStyle/>
          <a:p>
            <a:pPr algn="ctr" indent="0" marL="0">
              <a:buNone/>
            </a:pPr>
            <a:r>
              <a:rPr lang="en-US" sz="850" b="1" dirty="0">
                <a:solidFill>
                  <a:schemeClr val="bg1"/>
                </a:solidFill>
              </a:rPr>
              <a:t>billing</a:t>
            </a:r>
            <a:endParaRPr lang="en-US" sz="850" dirty="0"/>
          </a:p>
        </p:txBody>
      </p:sp>
      <p:sp>
        <p:nvSpPr>
          <p:cNvPr id="24" name="Text 21"/>
          <p:cNvSpPr txBox="1"/>
          <p:nvPr/>
        </p:nvSpPr>
        <p:spPr>
          <a:xfrm>
            <a:off x="5010912" y="3520440"/>
            <a:ext cx="1865376" cy="731520"/>
          </a:xfrm>
          <a:prstGeom prst="rect">
            <a:avLst/>
          </a:prstGeom>
          <a:noFill/>
          <a:ln/>
        </p:spPr>
        <p:txBody>
          <a:bodyPr wrap="square" lIns="0" tIns="0" rIns="0" bIns="0" rtlCol="0" anchor="t"/>
          <a:lstStyle/>
          <a:p>
            <a:pPr indent="0" marL="0">
              <a:buNone/>
            </a:pPr>
            <a:r>
              <a:rPr lang="en-US" sz="850" dirty="0">
                <a:solidFill>
                  <a:schemeClr val="tx1"/>
                </a:solidFill>
              </a:rPr>
              <a:t>invoices</a:t>
            </a:r>
            <a:endParaRPr lang="en-US" sz="850" dirty="0"/>
          </a:p>
          <a:p>
            <a:pPr indent="0" marL="0">
              <a:buNone/>
            </a:pPr>
            <a:r>
              <a:rPr lang="en-US" sz="850" dirty="0">
                <a:solidFill>
                  <a:schemeClr val="tx1"/>
                </a:solidFill>
              </a:rPr>
              <a:t>payments (idempotency key)</a:t>
            </a:r>
            <a:endParaRPr lang="en-US" sz="850" dirty="0"/>
          </a:p>
          <a:p>
            <a:pPr indent="0" marL="0">
              <a:buNone/>
            </a:pPr>
            <a:r>
              <a:rPr lang="en-US" sz="850" dirty="0">
                <a:solidFill>
                  <a:schemeClr val="tx1"/>
                </a:solidFill>
              </a:rPr>
              <a:t>notifications (no DDL)</a:t>
            </a:r>
            <a:endParaRPr lang="en-US" sz="850" dirty="0"/>
          </a:p>
        </p:txBody>
      </p:sp>
      <p:sp>
        <p:nvSpPr>
          <p:cNvPr id="25" name="Shape 22"/>
          <p:cNvSpPr/>
          <p:nvPr/>
        </p:nvSpPr>
        <p:spPr>
          <a:xfrm>
            <a:off x="1828800" y="1691640"/>
            <a:ext cx="365760" cy="0"/>
          </a:xfrm>
          <a:prstGeom prst="line">
            <a:avLst/>
          </a:prstGeom>
          <a:noFill/>
          <a:ln w="13970">
            <a:solidFill>
              <a:schemeClr val="tx2"/>
            </a:solidFill>
            <a:prstDash val="dash"/>
            <a:tailEnd type="triangle"/>
          </a:ln>
        </p:spPr>
      </p:sp>
      <p:sp>
        <p:nvSpPr>
          <p:cNvPr id="26" name="Shape 23"/>
          <p:cNvSpPr/>
          <p:nvPr/>
        </p:nvSpPr>
        <p:spPr>
          <a:xfrm>
            <a:off x="4572000" y="2011680"/>
            <a:ext cx="365760" cy="0"/>
          </a:xfrm>
          <a:prstGeom prst="line">
            <a:avLst/>
          </a:prstGeom>
          <a:noFill/>
          <a:ln w="13970">
            <a:solidFill>
              <a:schemeClr val="tx2"/>
            </a:solidFill>
            <a:prstDash val="dash"/>
            <a:tailEnd type="triangle"/>
          </a:ln>
        </p:spPr>
      </p:sp>
      <p:sp>
        <p:nvSpPr>
          <p:cNvPr id="27" name="Shape 24"/>
          <p:cNvSpPr/>
          <p:nvPr/>
        </p:nvSpPr>
        <p:spPr>
          <a:xfrm>
            <a:off x="3200400" y="2880360"/>
            <a:ext cx="0" cy="320040"/>
          </a:xfrm>
          <a:prstGeom prst="line">
            <a:avLst/>
          </a:prstGeom>
          <a:noFill/>
          <a:ln w="13970">
            <a:solidFill>
              <a:schemeClr val="tx2"/>
            </a:solidFill>
            <a:prstDash val="dash"/>
            <a:tailEnd type="triangle"/>
          </a:ln>
        </p:spPr>
      </p:sp>
      <p:sp>
        <p:nvSpPr>
          <p:cNvPr id="28" name="Shape 25"/>
          <p:cNvSpPr/>
          <p:nvPr/>
        </p:nvSpPr>
        <p:spPr>
          <a:xfrm>
            <a:off x="5943600" y="2880360"/>
            <a:ext cx="0" cy="320040"/>
          </a:xfrm>
          <a:prstGeom prst="line">
            <a:avLst/>
          </a:prstGeom>
          <a:noFill/>
          <a:ln w="13970">
            <a:solidFill>
              <a:schemeClr val="tx2"/>
            </a:solidFill>
            <a:prstDash val="dash"/>
            <a:tailEnd type="triangle"/>
          </a:ln>
        </p:spPr>
      </p:sp>
      <p:sp>
        <p:nvSpPr>
          <p:cNvPr id="29" name="Shape 26"/>
          <p:cNvSpPr/>
          <p:nvPr/>
        </p:nvSpPr>
        <p:spPr>
          <a:xfrm>
            <a:off x="7178040" y="1280160"/>
            <a:ext cx="1508760" cy="3017520"/>
          </a:xfrm>
          <a:prstGeom prst="rect">
            <a:avLst/>
          </a:prstGeom>
          <a:solidFill>
            <a:schemeClr val="bg1"/>
          </a:solidFill>
          <a:ln w="9525">
            <a:solidFill>
              <a:schemeClr val="accent6"/>
            </a:solidFill>
            <a:prstDash val="solid"/>
          </a:ln>
        </p:spPr>
      </p:sp>
      <p:sp>
        <p:nvSpPr>
          <p:cNvPr id="30" name="Shape 27"/>
          <p:cNvSpPr/>
          <p:nvPr/>
        </p:nvSpPr>
        <p:spPr>
          <a:xfrm>
            <a:off x="7178040" y="1280160"/>
            <a:ext cx="45720" cy="3017520"/>
          </a:xfrm>
          <a:prstGeom prst="rect">
            <a:avLst/>
          </a:prstGeom>
          <a:solidFill>
            <a:schemeClr val="accent4"/>
          </a:solidFill>
          <a:ln w="12700">
            <a:solidFill>
              <a:schemeClr val="accent4"/>
            </a:solidFill>
            <a:prstDash val="solid"/>
          </a:ln>
        </p:spPr>
      </p:sp>
      <p:sp>
        <p:nvSpPr>
          <p:cNvPr id="31" name="Text 28"/>
          <p:cNvSpPr txBox="1"/>
          <p:nvPr/>
        </p:nvSpPr>
        <p:spPr>
          <a:xfrm>
            <a:off x="7342632" y="1371600"/>
            <a:ext cx="1234440" cy="256032"/>
          </a:xfrm>
          <a:prstGeom prst="rect">
            <a:avLst/>
          </a:prstGeom>
          <a:noFill/>
          <a:ln/>
        </p:spPr>
        <p:txBody>
          <a:bodyPr wrap="square" lIns="0" tIns="0" rIns="0" bIns="0" rtlCol="0" anchor="t"/>
          <a:lstStyle/>
          <a:p>
            <a:pPr indent="0" marL="0">
              <a:buNone/>
            </a:pPr>
            <a:r>
              <a:rPr lang="en-US" sz="950" b="1" dirty="0">
                <a:solidFill>
                  <a:schemeClr val="tx2"/>
                </a:solidFill>
                <a:latin typeface="Manrope" pitchFamily="34" charset="0"/>
                <a:ea typeface="Manrope" pitchFamily="34" charset="-122"/>
                <a:cs typeface="Manrope" pitchFamily="34" charset="-120"/>
              </a:rPr>
              <a:t>Schema notes</a:t>
            </a:r>
            <a:endParaRPr lang="en-US" sz="950" dirty="0"/>
          </a:p>
        </p:txBody>
      </p:sp>
      <p:sp>
        <p:nvSpPr>
          <p:cNvPr id="32" name="Text 29"/>
          <p:cNvSpPr txBox="1"/>
          <p:nvPr/>
        </p:nvSpPr>
        <p:spPr>
          <a:xfrm>
            <a:off x="7342632" y="1664208"/>
            <a:ext cx="1234440" cy="2560320"/>
          </a:xfrm>
          <a:prstGeom prst="rect">
            <a:avLst/>
          </a:prstGeom>
          <a:noFill/>
          <a:ln/>
        </p:spPr>
        <p:txBody>
          <a:bodyPr wrap="square" lIns="0" tIns="0" rIns="0" bIns="0" rtlCol="0" anchor="t"/>
          <a:lstStyle/>
          <a:p>
            <a:pPr marL="152400" indent="-152400">
              <a:spcAft>
                <a:spcPts val="500"/>
              </a:spcAft>
              <a:buSzPct val="100000"/>
              <a:buChar char="•"/>
            </a:pPr>
            <a:r>
              <a:rPr lang="en-US" sz="950" dirty="0">
                <a:solidFill>
                  <a:schemeClr val="tx1"/>
                </a:solidFill>
              </a:rPr>
              <a:t>Status and role columns have no CHECK</a:t>
            </a:r>
            <a:endParaRPr lang="en-US" sz="950" dirty="0"/>
          </a:p>
          <a:p>
            <a:pPr marL="152400" indent="-152400">
              <a:spcAft>
                <a:spcPts val="500"/>
              </a:spcAft>
              <a:buSzPct val="100000"/>
              <a:buChar char="•"/>
            </a:pPr>
            <a:r>
              <a:rPr lang="en-US" sz="950" dirty="0">
                <a:solidFill>
                  <a:schemeClr val="tx1"/>
                </a:solidFill>
              </a:rPr>
              <a:t>users lacks must_change_password</a:t>
            </a:r>
            <a:endParaRPr lang="en-US" sz="950" dirty="0"/>
          </a:p>
          <a:p>
            <a:pPr marL="152400" indent="-152400">
              <a:spcAft>
                <a:spcPts val="500"/>
              </a:spcAft>
              <a:buSzPct val="100000"/>
              <a:buChar char="•"/>
            </a:pPr>
            <a:r>
              <a:rPr lang="en-US" sz="950" dirty="0">
                <a:solidFill>
                  <a:schemeClr val="tx1"/>
                </a:solidFill>
              </a:rPr>
              <a:t>No cross-DB FKs</a:t>
            </a:r>
            <a:endParaRPr lang="en-US" sz="95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100" b="1" dirty="0">
                <a:solidFill>
                  <a:schemeClr val="tx2"/>
                </a:solidFill>
                <a:latin typeface="Manrope" pitchFamily="34" charset="0"/>
                <a:ea typeface="Manrope" pitchFamily="34" charset="-122"/>
                <a:cs typeface="Manrope" pitchFamily="34" charset="-120"/>
              </a:rPr>
              <a:t>Observability is partial; monitoring is not evidenced</a:t>
            </a:r>
            <a:endParaRPr lang="en-US" sz="2100" dirty="0"/>
          </a:p>
        </p:txBody>
      </p:sp>
      <p:sp>
        <p:nvSpPr>
          <p:cNvPr id="4" name="Text 1"/>
          <p:cNvSpPr txBox="1"/>
          <p:nvPr/>
        </p:nvSpPr>
        <p:spPr>
          <a:xfrm>
            <a:off x="457200" y="868680"/>
            <a:ext cx="8229600" cy="274320"/>
          </a:xfrm>
          <a:prstGeom prst="rect">
            <a:avLst/>
          </a:prstGeom>
          <a:noFill/>
          <a:ln/>
        </p:spPr>
        <p:txBody>
          <a:bodyPr wrap="square" lIns="0" tIns="0" rIns="0" bIns="0" rtlCol="0" anchor="t"/>
          <a:lstStyle/>
          <a:p>
            <a:pPr indent="0" marL="0">
              <a:buNone/>
            </a:pPr>
            <a:r>
              <a:rPr lang="en-US" sz="1150" i="1" dirty="0">
                <a:solidFill>
                  <a:schemeClr val="accent5"/>
                </a:solidFill>
              </a:rPr>
              <a:t>Status of each capability, based on supplied evidence only.</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743200"/>
                <a:gridCol w="1097280"/>
                <a:gridCol w="4389120"/>
              </a:tblGrid>
              <a:tr h="0">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Capability</a:t>
                      </a:r>
                      <a:endParaRPr lang="en-US" sz="9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Status</a:t>
                      </a:r>
                      <a:endParaRPr lang="en-US" sz="9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Evidence</a:t>
                      </a:r>
                      <a:endParaRPr lang="en-US" sz="9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r>
              <a:tr h="0">
                <a:tc>
                  <a:txBody>
                    <a:bodyPr/>
                    <a:lstStyle/>
                    <a:p>
                      <a:pPr indent="0" marL="0">
                        <a:buNone/>
                      </a:pPr>
                      <a:r>
                        <a:rPr lang="en-US" sz="1050" dirty="0">
                          <a:solidFill>
                            <a:srgbClr val="211E1F"/>
                          </a:solidFill>
                        </a:rPr>
                        <a:t>Application logging (SLF4J, Lombok @Slf4j)</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Partial</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Declared in JwtService, NotificationClient; log calls in exception handlers</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211E1F"/>
                          </a:solidFill>
                        </a:rPr>
                        <a:t>Log levels and appenders</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Unverified</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No logging configuration supplied</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050" dirty="0">
                          <a:solidFill>
                            <a:srgbClr val="211E1F"/>
                          </a:solidFill>
                        </a:rPr>
                        <a:t>X-Correlation-ID propagation</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Partial</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CorrelationIdWebFilter in gateway and five services; not in MDC</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211E1F"/>
                          </a:solidFill>
                        </a:rPr>
                        <a:t>Reactive context propagation</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Absent</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No Reactor context usage found</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050" dirty="0">
                          <a:solidFill>
                            <a:srgbClr val="211E1F"/>
                          </a:solidFill>
                        </a:rPr>
                        <a:t>Sensitive data in logs</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Partial</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Token value not logged; email subjects logged at info level</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211E1F"/>
                          </a:solidFill>
                        </a:rPr>
                        <a:t>Metrics, tracing, dashboards</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Not evidenced</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Actuator paths permitted; no monitoring setup supplied</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bl>
          </a:graphicData>
        </a:graphic>
      </p:graphicFrame>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100" b="1" dirty="0">
                <a:solidFill>
                  <a:schemeClr val="tx2"/>
                </a:solidFill>
                <a:latin typeface="Manrope" pitchFamily="34" charset="0"/>
                <a:ea typeface="Manrope" pitchFamily="34" charset="-122"/>
                <a:cs typeface="Manrope" pitchFamily="34" charset="-120"/>
              </a:rPr>
              <a:t>228 test methods written; no results or coverage supplied</a:t>
            </a:r>
            <a:endParaRPr lang="en-US" sz="2100" dirty="0"/>
          </a:p>
        </p:txBody>
      </p:sp>
      <p:sp>
        <p:nvSpPr>
          <p:cNvPr id="4" name="Text 1"/>
          <p:cNvSpPr txBox="1"/>
          <p:nvPr/>
        </p:nvSpPr>
        <p:spPr>
          <a:xfrm>
            <a:off x="457200" y="868680"/>
            <a:ext cx="8229600" cy="274320"/>
          </a:xfrm>
          <a:prstGeom prst="rect">
            <a:avLst/>
          </a:prstGeom>
          <a:noFill/>
          <a:ln/>
        </p:spPr>
        <p:txBody>
          <a:bodyPr wrap="square" lIns="0" tIns="0" rIns="0" bIns="0" rtlCol="0" anchor="t"/>
          <a:lstStyle/>
          <a:p>
            <a:pPr indent="0" marL="0">
              <a:buNone/>
            </a:pPr>
            <a:r>
              <a:rPr lang="en-US" sz="1150" i="1" dirty="0">
                <a:solidFill>
                  <a:schemeClr val="accent5"/>
                </a:solidFill>
              </a:rPr>
              <a:t>Strong unit tests in Auth and Gateway; other services have a context-load test only.</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3566160" cy="914400"/>
        </p:xfrm>
        <a:graphic>
          <a:graphicData uri="http://schemas.openxmlformats.org/drawingml/2006/table">
            <a:tbl>
              <a:tblPr/>
              <a:tblGrid>
                <a:gridCol w="1737360"/>
                <a:gridCol w="914400"/>
                <a:gridCol w="914400"/>
              </a:tblGrid>
              <a:tr h="0">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Module</a:t>
                      </a:r>
                      <a:endParaRPr lang="en-US" sz="9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Test files</a:t>
                      </a:r>
                      <a:endParaRPr lang="en-US" sz="9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@Test</a:t>
                      </a:r>
                      <a:endParaRPr lang="en-US" sz="9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r>
              <a:tr h="0">
                <a:tc>
                  <a:txBody>
                    <a:bodyPr/>
                    <a:lstStyle/>
                    <a:p>
                      <a:pPr indent="0" marL="0">
                        <a:buNone/>
                      </a:pPr>
                      <a:r>
                        <a:rPr lang="en-US" sz="1050" dirty="0">
                          <a:solidFill>
                            <a:srgbClr val="211E1F"/>
                          </a:solidFill>
                        </a:rPr>
                        <a:t>Auth</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21</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206</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211E1F"/>
                          </a:solidFill>
                        </a:rPr>
                        <a:t>API Gateway</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6</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17</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050" dirty="0">
                          <a:solidFill>
                            <a:srgbClr val="211E1F"/>
                          </a:solidFill>
                        </a:rPr>
                        <a:t>Billing</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1</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1</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211E1F"/>
                          </a:solidFill>
                        </a:rPr>
                        <a:t>Claims</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1</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1</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050" dirty="0">
                          <a:solidFill>
                            <a:srgbClr val="211E1F"/>
                          </a:solidFill>
                        </a:rPr>
                        <a:t>Equipment</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1</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1</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211E1F"/>
                          </a:solidFill>
                        </a:rPr>
                        <a:t>Underwriting</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1</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1</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050" dirty="0">
                          <a:solidFill>
                            <a:srgbClr val="211E1F"/>
                          </a:solidFill>
                        </a:rPr>
                        <a:t>Eureka Server</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1</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1</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211E1F"/>
                          </a:solidFill>
                        </a:rPr>
                        <a:t>Frontend</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1</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n/a</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bl>
          </a:graphicData>
        </a:graphic>
      </p:graphicFrame>
      <p:sp>
        <p:nvSpPr>
          <p:cNvPr id="6" name="Shape 2"/>
          <p:cNvSpPr/>
          <p:nvPr/>
        </p:nvSpPr>
        <p:spPr>
          <a:xfrm>
            <a:off x="4297680" y="1280160"/>
            <a:ext cx="4389120" cy="1508760"/>
          </a:xfrm>
          <a:prstGeom prst="rect">
            <a:avLst/>
          </a:prstGeom>
          <a:solidFill>
            <a:schemeClr val="bg1"/>
          </a:solidFill>
          <a:ln w="9525">
            <a:solidFill>
              <a:schemeClr val="accent6"/>
            </a:solidFill>
            <a:prstDash val="solid"/>
          </a:ln>
        </p:spPr>
      </p:sp>
      <p:sp>
        <p:nvSpPr>
          <p:cNvPr id="7" name="Shape 3"/>
          <p:cNvSpPr/>
          <p:nvPr/>
        </p:nvSpPr>
        <p:spPr>
          <a:xfrm>
            <a:off x="4297680" y="1280160"/>
            <a:ext cx="45720" cy="1508760"/>
          </a:xfrm>
          <a:prstGeom prst="rect">
            <a:avLst/>
          </a:prstGeom>
          <a:solidFill>
            <a:schemeClr val="accent3"/>
          </a:solidFill>
          <a:ln w="12700">
            <a:solidFill>
              <a:schemeClr val="accent3"/>
            </a:solidFill>
            <a:prstDash val="solid"/>
          </a:ln>
        </p:spPr>
      </p:sp>
      <p:sp>
        <p:nvSpPr>
          <p:cNvPr id="8" name="Text 4"/>
          <p:cNvSpPr txBox="1"/>
          <p:nvPr/>
        </p:nvSpPr>
        <p:spPr>
          <a:xfrm>
            <a:off x="4462272" y="1371600"/>
            <a:ext cx="4114800" cy="256032"/>
          </a:xfrm>
          <a:prstGeom prst="rect">
            <a:avLst/>
          </a:prstGeom>
          <a:noFill/>
          <a:ln/>
        </p:spPr>
        <p:txBody>
          <a:bodyPr wrap="square" lIns="0" tIns="0" rIns="0" bIns="0" rtlCol="0" anchor="t"/>
          <a:lstStyle/>
          <a:p>
            <a:pPr indent="0" marL="0">
              <a:buNone/>
            </a:pPr>
            <a:r>
              <a:rPr lang="en-US" sz="1150" b="1" dirty="0">
                <a:solidFill>
                  <a:schemeClr val="tx2"/>
                </a:solidFill>
                <a:latin typeface="Manrope" pitchFamily="34" charset="0"/>
                <a:ea typeface="Manrope" pitchFamily="34" charset="-122"/>
                <a:cs typeface="Manrope" pitchFamily="34" charset="-120"/>
              </a:rPr>
              <a:t>What exists</a:t>
            </a:r>
            <a:endParaRPr lang="en-US" sz="1150" dirty="0"/>
          </a:p>
        </p:txBody>
      </p:sp>
      <p:sp>
        <p:nvSpPr>
          <p:cNvPr id="9" name="Text 5"/>
          <p:cNvSpPr txBox="1"/>
          <p:nvPr/>
        </p:nvSpPr>
        <p:spPr>
          <a:xfrm>
            <a:off x="4462272" y="1664208"/>
            <a:ext cx="4114800" cy="105156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chemeClr val="tx1"/>
                </a:solidFill>
              </a:rPr>
              <a:t>JUnit 5 and Mockito unit tests: services, controllers, JWT, DTO validation, mappers</a:t>
            </a:r>
            <a:endParaRPr lang="en-US" sz="1050" dirty="0"/>
          </a:p>
          <a:p>
            <a:pPr marL="152400" indent="-152400">
              <a:spcAft>
                <a:spcPts val="500"/>
              </a:spcAft>
              <a:buSzPct val="100000"/>
              <a:buChar char="•"/>
            </a:pPr>
            <a:r>
              <a:rPr lang="en-US" sz="1050" dirty="0">
                <a:solidFill>
                  <a:schemeClr val="tx1"/>
                </a:solidFill>
              </a:rPr>
              <a:t>Gateway tests: security config, JWT converter, correlation filter, exception handler</a:t>
            </a:r>
            <a:endParaRPr lang="en-US" sz="1050" dirty="0"/>
          </a:p>
        </p:txBody>
      </p:sp>
      <p:sp>
        <p:nvSpPr>
          <p:cNvPr id="10" name="Shape 6"/>
          <p:cNvSpPr/>
          <p:nvPr/>
        </p:nvSpPr>
        <p:spPr>
          <a:xfrm>
            <a:off x="4297680" y="2926080"/>
            <a:ext cx="4389120" cy="1554480"/>
          </a:xfrm>
          <a:prstGeom prst="rect">
            <a:avLst/>
          </a:prstGeom>
          <a:solidFill>
            <a:schemeClr val="bg1"/>
          </a:solidFill>
          <a:ln w="9525">
            <a:solidFill>
              <a:schemeClr val="accent6"/>
            </a:solidFill>
            <a:prstDash val="solid"/>
          </a:ln>
        </p:spPr>
      </p:sp>
      <p:sp>
        <p:nvSpPr>
          <p:cNvPr id="11" name="Shape 7"/>
          <p:cNvSpPr/>
          <p:nvPr/>
        </p:nvSpPr>
        <p:spPr>
          <a:xfrm>
            <a:off x="4297680" y="2926080"/>
            <a:ext cx="45720" cy="1554480"/>
          </a:xfrm>
          <a:prstGeom prst="rect">
            <a:avLst/>
          </a:prstGeom>
          <a:solidFill>
            <a:schemeClr val="accent4"/>
          </a:solidFill>
          <a:ln w="12700">
            <a:solidFill>
              <a:schemeClr val="accent4"/>
            </a:solidFill>
            <a:prstDash val="solid"/>
          </a:ln>
        </p:spPr>
      </p:sp>
      <p:sp>
        <p:nvSpPr>
          <p:cNvPr id="12" name="Text 8"/>
          <p:cNvSpPr txBox="1"/>
          <p:nvPr/>
        </p:nvSpPr>
        <p:spPr>
          <a:xfrm>
            <a:off x="4462272" y="3017520"/>
            <a:ext cx="4114800" cy="256032"/>
          </a:xfrm>
          <a:prstGeom prst="rect">
            <a:avLst/>
          </a:prstGeom>
          <a:noFill/>
          <a:ln/>
        </p:spPr>
        <p:txBody>
          <a:bodyPr wrap="square" lIns="0" tIns="0" rIns="0" bIns="0" rtlCol="0" anchor="t"/>
          <a:lstStyle/>
          <a:p>
            <a:pPr indent="0" marL="0">
              <a:buNone/>
            </a:pPr>
            <a:r>
              <a:rPr lang="en-US" sz="1150" b="1" dirty="0">
                <a:solidFill>
                  <a:schemeClr val="tx2"/>
                </a:solidFill>
                <a:latin typeface="Manrope" pitchFamily="34" charset="0"/>
                <a:ea typeface="Manrope" pitchFamily="34" charset="-122"/>
                <a:cs typeface="Manrope" pitchFamily="34" charset="-120"/>
              </a:rPr>
              <a:t>Proposed test plan (not yet written)</a:t>
            </a:r>
            <a:endParaRPr lang="en-US" sz="1150" dirty="0"/>
          </a:p>
        </p:txBody>
      </p:sp>
      <p:sp>
        <p:nvSpPr>
          <p:cNvPr id="13" name="Text 9"/>
          <p:cNvSpPr txBox="1"/>
          <p:nvPr/>
        </p:nvSpPr>
        <p:spPr>
          <a:xfrm>
            <a:off x="4462272" y="3310128"/>
            <a:ext cx="4114800" cy="109728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chemeClr val="tx1"/>
                </a:solidFill>
              </a:rPr>
              <a:t>TC-001/002 cross-company invoice and payment access</a:t>
            </a:r>
            <a:endParaRPr lang="en-US" sz="1050" dirty="0"/>
          </a:p>
          <a:p>
            <a:pPr marL="152400" indent="-152400">
              <a:spcAft>
                <a:spcPts val="500"/>
              </a:spcAft>
              <a:buSzPct val="100000"/>
              <a:buChar char="•"/>
            </a:pPr>
            <a:r>
              <a:rPr lang="en-US" sz="1050" dirty="0">
                <a:solidFill>
                  <a:schemeClr val="tx1"/>
                </a:solidFill>
              </a:rPr>
              <a:t>TC-003 refresh token on /api/v1; TC-004 lockout</a:t>
            </a:r>
            <a:endParaRPr lang="en-US" sz="1050" dirty="0"/>
          </a:p>
          <a:p>
            <a:pPr marL="152400" indent="-152400">
              <a:spcAft>
                <a:spcPts val="500"/>
              </a:spcAft>
              <a:buSzPct val="100000"/>
              <a:buChar char="•"/>
            </a:pPr>
            <a:r>
              <a:rPr lang="en-US" sz="1050" dirty="0">
                <a:solidFill>
                  <a:schemeClr val="tx1"/>
                </a:solidFill>
              </a:rPr>
              <a:t>TC-006/007 settlement threshold and total-loss boundary</a:t>
            </a:r>
            <a:endParaRPr lang="en-US" sz="1050" dirty="0"/>
          </a:p>
          <a:p>
            <a:pPr marL="152400" indent="-152400">
              <a:spcAft>
                <a:spcPts val="500"/>
              </a:spcAft>
              <a:buSzPct val="100000"/>
              <a:buChar char="•"/>
            </a:pPr>
            <a:r>
              <a:rPr lang="en-US" sz="1050" dirty="0">
                <a:solidFill>
                  <a:schemeClr val="tx1"/>
                </a:solidFill>
              </a:rPr>
              <a:t>TC-009 overlapping assignment; TC-010 staff-only route</a:t>
            </a:r>
            <a:endParaRPr lang="en-US" sz="105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100" b="1" dirty="0">
                <a:solidFill>
                  <a:schemeClr val="tx2"/>
                </a:solidFill>
                <a:latin typeface="Manrope" pitchFamily="34" charset="0"/>
                <a:ea typeface="Manrope" pitchFamily="34" charset="-122"/>
                <a:cs typeface="Manrope" pitchFamily="34" charset="-120"/>
              </a:rPr>
              <a:t>Validation and exceptions are handled in layers</a:t>
            </a:r>
            <a:endParaRPr lang="en-US" sz="2100" dirty="0"/>
          </a:p>
        </p:txBody>
      </p:sp>
      <p:sp>
        <p:nvSpPr>
          <p:cNvPr id="4" name="Text 1"/>
          <p:cNvSpPr txBox="1"/>
          <p:nvPr/>
        </p:nvSpPr>
        <p:spPr>
          <a:xfrm>
            <a:off x="457200" y="868680"/>
            <a:ext cx="8229600" cy="274320"/>
          </a:xfrm>
          <a:prstGeom prst="rect">
            <a:avLst/>
          </a:prstGeom>
          <a:noFill/>
          <a:ln/>
        </p:spPr>
        <p:txBody>
          <a:bodyPr wrap="square" lIns="0" tIns="0" rIns="0" bIns="0" rtlCol="0" anchor="t"/>
          <a:lstStyle/>
          <a:p>
            <a:pPr indent="0" marL="0">
              <a:buNone/>
            </a:pPr>
            <a:r>
              <a:rPr lang="en-US" sz="1150" i="1" dirty="0">
                <a:solidFill>
                  <a:schemeClr val="accent5"/>
                </a:solidFill>
              </a:rPr>
              <a:t>Input is rejected at the earliest layer; the database is the final safeguard.</a:t>
            </a:r>
            <a:endParaRPr lang="en-US" sz="1150" dirty="0"/>
          </a:p>
        </p:txBody>
      </p:sp>
      <p:sp>
        <p:nvSpPr>
          <p:cNvPr id="5" name="node"/>
          <p:cNvSpPr/>
          <p:nvPr/>
        </p:nvSpPr>
        <p:spPr>
          <a:xfrm>
            <a:off x="457200" y="1325880"/>
            <a:ext cx="1417320" cy="685800"/>
          </a:xfrm>
          <a:prstGeom prst="rect">
            <a:avLst/>
          </a:prstGeom>
          <a:solidFill>
            <a:schemeClr val="bg1"/>
          </a:solidFill>
          <a:ln w="12700">
            <a:solidFill>
              <a:schemeClr val="tx2"/>
            </a:solidFill>
            <a:prstDash val="solid"/>
          </a:ln>
        </p:spPr>
      </p:sp>
      <p:sp>
        <p:nvSpPr>
          <p:cNvPr id="6" name="Text 3"/>
          <p:cNvSpPr txBox="1"/>
          <p:nvPr/>
        </p:nvSpPr>
        <p:spPr>
          <a:xfrm>
            <a:off x="493776" y="1325880"/>
            <a:ext cx="1344168" cy="685800"/>
          </a:xfrm>
          <a:prstGeom prst="rect">
            <a:avLst/>
          </a:prstGeom>
          <a:noFill/>
          <a:ln/>
        </p:spPr>
        <p:txBody>
          <a:bodyPr wrap="square" lIns="0" tIns="0" rIns="0" bIns="0" rtlCol="0" anchor="ctr"/>
          <a:lstStyle/>
          <a:p>
            <a:pPr algn="ctr" indent="0" marL="0">
              <a:buNone/>
            </a:pPr>
            <a:r>
              <a:rPr lang="en-US" sz="950" dirty="0">
                <a:solidFill>
                  <a:schemeClr val="tx1"/>
                </a:solidFill>
              </a:rPr>
              <a:t>Frontend forms</a:t>
            </a:r>
            <a:endParaRPr lang="en-US" sz="950" dirty="0"/>
          </a:p>
          <a:p>
            <a:pPr algn="ctr" indent="0" marL="0">
              <a:buNone/>
            </a:pPr>
            <a:r>
              <a:rPr lang="en-US" sz="950" dirty="0">
                <a:solidFill>
                  <a:schemeClr val="tx1"/>
                </a:solidFill>
              </a:rPr>
              <a:t>and guards</a:t>
            </a:r>
            <a:endParaRPr lang="en-US" sz="950" dirty="0"/>
          </a:p>
        </p:txBody>
      </p:sp>
      <p:sp>
        <p:nvSpPr>
          <p:cNvPr id="7" name="Shape 4"/>
          <p:cNvSpPr/>
          <p:nvPr/>
        </p:nvSpPr>
        <p:spPr>
          <a:xfrm>
            <a:off x="1874520" y="1668780"/>
            <a:ext cx="274320" cy="0"/>
          </a:xfrm>
          <a:prstGeom prst="line">
            <a:avLst/>
          </a:prstGeom>
          <a:noFill/>
          <a:ln w="13970">
            <a:solidFill>
              <a:schemeClr val="tx2"/>
            </a:solidFill>
            <a:prstDash val="solid"/>
            <a:tailEnd type="triangle"/>
          </a:ln>
        </p:spPr>
      </p:sp>
      <p:sp>
        <p:nvSpPr>
          <p:cNvPr id="8" name="node"/>
          <p:cNvSpPr/>
          <p:nvPr/>
        </p:nvSpPr>
        <p:spPr>
          <a:xfrm>
            <a:off x="2148840" y="1325880"/>
            <a:ext cx="1417320" cy="685800"/>
          </a:xfrm>
          <a:prstGeom prst="rect">
            <a:avLst/>
          </a:prstGeom>
          <a:solidFill>
            <a:schemeClr val="bg1"/>
          </a:solidFill>
          <a:ln w="12700">
            <a:solidFill>
              <a:schemeClr val="tx2"/>
            </a:solidFill>
            <a:prstDash val="solid"/>
          </a:ln>
        </p:spPr>
      </p:sp>
      <p:sp>
        <p:nvSpPr>
          <p:cNvPr id="9" name="Text 6"/>
          <p:cNvSpPr txBox="1"/>
          <p:nvPr/>
        </p:nvSpPr>
        <p:spPr>
          <a:xfrm>
            <a:off x="2185416" y="1325880"/>
            <a:ext cx="1344168" cy="685800"/>
          </a:xfrm>
          <a:prstGeom prst="rect">
            <a:avLst/>
          </a:prstGeom>
          <a:noFill/>
          <a:ln/>
        </p:spPr>
        <p:txBody>
          <a:bodyPr wrap="square" lIns="0" tIns="0" rIns="0" bIns="0" rtlCol="0" anchor="ctr"/>
          <a:lstStyle/>
          <a:p>
            <a:pPr algn="ctr" indent="0" marL="0">
              <a:buNone/>
            </a:pPr>
            <a:r>
              <a:rPr lang="en-US" sz="950" dirty="0">
                <a:solidFill>
                  <a:schemeClr val="tx1"/>
                </a:solidFill>
              </a:rPr>
              <a:t>Bean Validation</a:t>
            </a:r>
            <a:endParaRPr lang="en-US" sz="950" dirty="0"/>
          </a:p>
          <a:p>
            <a:pPr algn="ctr" indent="0" marL="0">
              <a:buNone/>
            </a:pPr>
            <a:r>
              <a:rPr lang="en-US" sz="950" dirty="0">
                <a:solidFill>
                  <a:schemeClr val="tx1"/>
                </a:solidFill>
              </a:rPr>
              <a:t>(@Valid DTOs)</a:t>
            </a:r>
            <a:endParaRPr lang="en-US" sz="950" dirty="0"/>
          </a:p>
        </p:txBody>
      </p:sp>
      <p:sp>
        <p:nvSpPr>
          <p:cNvPr id="10" name="Shape 7"/>
          <p:cNvSpPr/>
          <p:nvPr/>
        </p:nvSpPr>
        <p:spPr>
          <a:xfrm>
            <a:off x="3566160" y="1668780"/>
            <a:ext cx="274320" cy="0"/>
          </a:xfrm>
          <a:prstGeom prst="line">
            <a:avLst/>
          </a:prstGeom>
          <a:noFill/>
          <a:ln w="13970">
            <a:solidFill>
              <a:schemeClr val="tx2"/>
            </a:solidFill>
            <a:prstDash val="solid"/>
            <a:tailEnd type="triangle"/>
          </a:ln>
        </p:spPr>
      </p:sp>
      <p:sp>
        <p:nvSpPr>
          <p:cNvPr id="11" name="node"/>
          <p:cNvSpPr/>
          <p:nvPr/>
        </p:nvSpPr>
        <p:spPr>
          <a:xfrm>
            <a:off x="3840480" y="1325880"/>
            <a:ext cx="1417320" cy="685800"/>
          </a:xfrm>
          <a:prstGeom prst="rect">
            <a:avLst/>
          </a:prstGeom>
          <a:solidFill>
            <a:schemeClr val="bg1"/>
          </a:solidFill>
          <a:ln w="12700">
            <a:solidFill>
              <a:schemeClr val="tx2"/>
            </a:solidFill>
            <a:prstDash val="solid"/>
          </a:ln>
        </p:spPr>
      </p:sp>
      <p:sp>
        <p:nvSpPr>
          <p:cNvPr id="12" name="Text 9"/>
          <p:cNvSpPr txBox="1"/>
          <p:nvPr/>
        </p:nvSpPr>
        <p:spPr>
          <a:xfrm>
            <a:off x="3877056" y="1325880"/>
            <a:ext cx="1344168" cy="685800"/>
          </a:xfrm>
          <a:prstGeom prst="rect">
            <a:avLst/>
          </a:prstGeom>
          <a:noFill/>
          <a:ln/>
        </p:spPr>
        <p:txBody>
          <a:bodyPr wrap="square" lIns="0" tIns="0" rIns="0" bIns="0" rtlCol="0" anchor="ctr"/>
          <a:lstStyle/>
          <a:p>
            <a:pPr algn="ctr" indent="0" marL="0">
              <a:buNone/>
            </a:pPr>
            <a:r>
              <a:rPr lang="en-US" sz="950" dirty="0">
                <a:solidFill>
                  <a:schemeClr val="tx1"/>
                </a:solidFill>
              </a:rPr>
              <a:t>Service and</a:t>
            </a:r>
            <a:endParaRPr lang="en-US" sz="950" dirty="0"/>
          </a:p>
          <a:p>
            <a:pPr algn="ctr" indent="0" marL="0">
              <a:buNone/>
            </a:pPr>
            <a:r>
              <a:rPr lang="en-US" sz="950" dirty="0">
                <a:solidFill>
                  <a:schemeClr val="tx1"/>
                </a:solidFill>
              </a:rPr>
              <a:t>rule classes</a:t>
            </a:r>
            <a:endParaRPr lang="en-US" sz="950" dirty="0"/>
          </a:p>
        </p:txBody>
      </p:sp>
      <p:sp>
        <p:nvSpPr>
          <p:cNvPr id="13" name="Shape 10"/>
          <p:cNvSpPr/>
          <p:nvPr/>
        </p:nvSpPr>
        <p:spPr>
          <a:xfrm>
            <a:off x="5257800" y="1668780"/>
            <a:ext cx="274320" cy="0"/>
          </a:xfrm>
          <a:prstGeom prst="line">
            <a:avLst/>
          </a:prstGeom>
          <a:noFill/>
          <a:ln w="13970">
            <a:solidFill>
              <a:schemeClr val="tx2"/>
            </a:solidFill>
            <a:prstDash val="solid"/>
            <a:tailEnd type="triangle"/>
          </a:ln>
        </p:spPr>
      </p:sp>
      <p:sp>
        <p:nvSpPr>
          <p:cNvPr id="14" name="node"/>
          <p:cNvSpPr/>
          <p:nvPr/>
        </p:nvSpPr>
        <p:spPr>
          <a:xfrm>
            <a:off x="5532120" y="1325880"/>
            <a:ext cx="1417320" cy="685800"/>
          </a:xfrm>
          <a:prstGeom prst="rect">
            <a:avLst/>
          </a:prstGeom>
          <a:solidFill>
            <a:schemeClr val="bg1"/>
          </a:solidFill>
          <a:ln w="12700">
            <a:solidFill>
              <a:schemeClr val="tx2"/>
            </a:solidFill>
            <a:prstDash val="solid"/>
          </a:ln>
        </p:spPr>
      </p:sp>
      <p:sp>
        <p:nvSpPr>
          <p:cNvPr id="15" name="Text 12"/>
          <p:cNvSpPr txBox="1"/>
          <p:nvPr/>
        </p:nvSpPr>
        <p:spPr>
          <a:xfrm>
            <a:off x="5568696" y="1325880"/>
            <a:ext cx="1344168" cy="685800"/>
          </a:xfrm>
          <a:prstGeom prst="rect">
            <a:avLst/>
          </a:prstGeom>
          <a:noFill/>
          <a:ln/>
        </p:spPr>
        <p:txBody>
          <a:bodyPr wrap="square" lIns="0" tIns="0" rIns="0" bIns="0" rtlCol="0" anchor="ctr"/>
          <a:lstStyle/>
          <a:p>
            <a:pPr algn="ctr" indent="0" marL="0">
              <a:buNone/>
            </a:pPr>
            <a:r>
              <a:rPr lang="en-US" sz="950" dirty="0">
                <a:solidFill>
                  <a:schemeClr val="tx1"/>
                </a:solidFill>
              </a:rPr>
              <a:t>Database CHECK</a:t>
            </a:r>
            <a:endParaRPr lang="en-US" sz="950" dirty="0"/>
          </a:p>
          <a:p>
            <a:pPr algn="ctr" indent="0" marL="0">
              <a:buNone/>
            </a:pPr>
            <a:r>
              <a:rPr lang="en-US" sz="950" dirty="0">
                <a:solidFill>
                  <a:schemeClr val="tx1"/>
                </a:solidFill>
              </a:rPr>
              <a:t>and unique</a:t>
            </a:r>
            <a:endParaRPr lang="en-US" sz="950" dirty="0"/>
          </a:p>
        </p:txBody>
      </p:sp>
      <p:sp>
        <p:nvSpPr>
          <p:cNvPr id="16" name="Shape 13"/>
          <p:cNvSpPr/>
          <p:nvPr/>
        </p:nvSpPr>
        <p:spPr>
          <a:xfrm>
            <a:off x="6949440" y="1668780"/>
            <a:ext cx="274320" cy="0"/>
          </a:xfrm>
          <a:prstGeom prst="line">
            <a:avLst/>
          </a:prstGeom>
          <a:noFill/>
          <a:ln w="13970">
            <a:solidFill>
              <a:schemeClr val="tx2"/>
            </a:solidFill>
            <a:prstDash val="solid"/>
            <a:tailEnd type="triangle"/>
          </a:ln>
        </p:spPr>
      </p:sp>
      <p:sp>
        <p:nvSpPr>
          <p:cNvPr id="17" name="node"/>
          <p:cNvSpPr/>
          <p:nvPr/>
        </p:nvSpPr>
        <p:spPr>
          <a:xfrm>
            <a:off x="7223760" y="1325880"/>
            <a:ext cx="1417320" cy="685800"/>
          </a:xfrm>
          <a:prstGeom prst="rect">
            <a:avLst/>
          </a:prstGeom>
          <a:solidFill>
            <a:schemeClr val="tx2"/>
          </a:solidFill>
          <a:ln w="12700">
            <a:solidFill>
              <a:schemeClr val="tx2"/>
            </a:solidFill>
            <a:prstDash val="solid"/>
          </a:ln>
        </p:spPr>
      </p:sp>
      <p:sp>
        <p:nvSpPr>
          <p:cNvPr id="18" name="Text 15"/>
          <p:cNvSpPr txBox="1"/>
          <p:nvPr/>
        </p:nvSpPr>
        <p:spPr>
          <a:xfrm>
            <a:off x="7260336" y="1325880"/>
            <a:ext cx="1344168" cy="685800"/>
          </a:xfrm>
          <a:prstGeom prst="rect">
            <a:avLst/>
          </a:prstGeom>
          <a:noFill/>
          <a:ln/>
        </p:spPr>
        <p:txBody>
          <a:bodyPr wrap="square" lIns="0" tIns="0" rIns="0" bIns="0" rtlCol="0" anchor="ctr"/>
          <a:lstStyle/>
          <a:p>
            <a:pPr algn="ctr" indent="0" marL="0">
              <a:buNone/>
            </a:pPr>
            <a:r>
              <a:rPr lang="en-US" sz="950" dirty="0">
                <a:solidFill>
                  <a:schemeClr val="bg1"/>
                </a:solidFill>
              </a:rPr>
              <a:t>GlobalException</a:t>
            </a:r>
            <a:endParaRPr lang="en-US" sz="950" dirty="0"/>
          </a:p>
          <a:p>
            <a:pPr algn="ctr" indent="0" marL="0">
              <a:buNone/>
            </a:pPr>
            <a:r>
              <a:rPr lang="en-US" sz="950" dirty="0">
                <a:solidFill>
                  <a:schemeClr val="bg1"/>
                </a:solidFill>
              </a:rPr>
              <a:t>Handler</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2331720"/>
          <a:ext cx="8229600" cy="914400"/>
        </p:xfrm>
        <a:graphic>
          <a:graphicData uri="http://schemas.openxmlformats.org/drawingml/2006/table">
            <a:tbl>
              <a:tblPr/>
              <a:tblGrid>
                <a:gridCol w="3840480"/>
                <a:gridCol w="2377440"/>
                <a:gridCol w="2011680"/>
              </a:tblGrid>
              <a:tr h="0">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Rule</a:t>
                      </a:r>
                      <a:endParaRPr lang="en-US" sz="9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Layer</a:t>
                      </a:r>
                      <a:endParaRPr lang="en-US" sz="9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Outcome</a:t>
                      </a:r>
                      <a:endParaRPr lang="en-US" sz="95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r>
              <a:tr h="0">
                <a:tc>
                  <a:txBody>
                    <a:bodyPr/>
                    <a:lstStyle/>
                    <a:p>
                      <a:pPr indent="0" marL="0">
                        <a:buNone/>
                      </a:pPr>
                      <a:r>
                        <a:rPr lang="en-US" sz="1050" dirty="0">
                          <a:solidFill>
                            <a:srgbClr val="211E1F"/>
                          </a:solidFill>
                        </a:rPr>
                        <a:t>Password 8-72 chars; name 2-100; valid unique email</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DTO / DB</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Validation or duplicate error</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211E1F"/>
                          </a:solidFill>
                        </a:rPr>
                        <a:t>Approved loss not above sum insured</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SettlementCalculationRule</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BusinessRuleException</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050" dirty="0">
                          <a:solidFill>
                            <a:srgbClr val="211E1F"/>
                          </a:solidFill>
                        </a:rPr>
                        <a:t>Risk score 0-100; premium not below minimum</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PremiumCalculationRule</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Exception / floor applied</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211E1F"/>
                          </a:solidFill>
                        </a:rPr>
                        <a:t>Overlapping equipment assignment</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EquipmentAssignmentService</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50" dirty="0">
                          <a:solidFill>
                            <a:srgbClr val="211E1F"/>
                          </a:solidFill>
                        </a:rPr>
                        <a:t>Business error</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050" dirty="0">
                          <a:solidFill>
                            <a:srgbClr val="211E1F"/>
                          </a:solidFill>
                        </a:rPr>
                        <a:t>Duplicate payment</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uk_payments_idempotency_key</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50" dirty="0">
                          <a:solidFill>
                            <a:srgbClr val="211E1F"/>
                          </a:solidFill>
                        </a:rPr>
                        <a:t>Duplicate detected</a:t>
                      </a:r>
                      <a:endParaRPr lang="en-US" sz="105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bl>
          </a:graphicData>
        </a:graphic>
      </p:graphicFrame>
      <p:sp>
        <p:nvSpPr>
          <p:cNvPr id="20" name="Text 16"/>
          <p:cNvSpPr txBox="1"/>
          <p:nvPr/>
        </p:nvSpPr>
        <p:spPr>
          <a:xfrm>
            <a:off x="457200" y="4206240"/>
            <a:ext cx="8229600" cy="411480"/>
          </a:xfrm>
          <a:prstGeom prst="rect">
            <a:avLst/>
          </a:prstGeom>
          <a:noFill/>
          <a:ln/>
        </p:spPr>
        <p:txBody>
          <a:bodyPr wrap="square" lIns="0" tIns="0" rIns="0" bIns="0" rtlCol="0" anchor="t"/>
          <a:lstStyle/>
          <a:p>
            <a:pPr indent="0" marL="0">
              <a:buNone/>
            </a:pPr>
            <a:r>
              <a:rPr lang="en-US" sz="900" dirty="0">
                <a:solidFill>
                  <a:schemeClr val="accent5"/>
                </a:solidFill>
              </a:rPr>
              <a:t>Domain exceptions: BusinessRuleException, ResourceNotFoundException, ForbiddenOperationException, DuplicateResourceException, AuthenticationException.</a:t>
            </a:r>
            <a:endParaRPr lang="en-US" sz="9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100" b="1" dirty="0">
                <a:solidFill>
                  <a:schemeClr val="tx2"/>
                </a:solidFill>
                <a:latin typeface="Manrope" pitchFamily="34" charset="0"/>
                <a:ea typeface="Manrope" pitchFamily="34" charset="-122"/>
                <a:cs typeface="Manrope" pitchFamily="34" charset="-120"/>
              </a:rPr>
              <a:t>End-to-end journey: from registration to claim settlement</a:t>
            </a:r>
            <a:endParaRPr lang="en-US" sz="2100" dirty="0"/>
          </a:p>
        </p:txBody>
      </p:sp>
      <p:sp>
        <p:nvSpPr>
          <p:cNvPr id="4" name="Text 1"/>
          <p:cNvSpPr txBox="1"/>
          <p:nvPr/>
        </p:nvSpPr>
        <p:spPr>
          <a:xfrm>
            <a:off x="457200" y="868680"/>
            <a:ext cx="8229600" cy="274320"/>
          </a:xfrm>
          <a:prstGeom prst="rect">
            <a:avLst/>
          </a:prstGeom>
          <a:noFill/>
          <a:ln/>
        </p:spPr>
        <p:txBody>
          <a:bodyPr wrap="square" lIns="0" tIns="0" rIns="0" bIns="0" rtlCol="0" anchor="t"/>
          <a:lstStyle/>
          <a:p>
            <a:pPr indent="0" marL="0">
              <a:buNone/>
            </a:pPr>
            <a:r>
              <a:rPr lang="en-US" sz="1150" i="1" dirty="0">
                <a:solidFill>
                  <a:schemeClr val="accent5"/>
                </a:solidFill>
              </a:rPr>
              <a:t>Demo flow: customer, underwriter, policy officer and claims officer each hand off to the next.</a:t>
            </a:r>
            <a:endParaRPr lang="en-US" sz="1150" dirty="0"/>
          </a:p>
        </p:txBody>
      </p:sp>
      <p:sp>
        <p:nvSpPr>
          <p:cNvPr id="5" name="node"/>
          <p:cNvSpPr/>
          <p:nvPr/>
        </p:nvSpPr>
        <p:spPr>
          <a:xfrm>
            <a:off x="457200" y="1371600"/>
            <a:ext cx="1188720" cy="731520"/>
          </a:xfrm>
          <a:prstGeom prst="rect">
            <a:avLst/>
          </a:prstGeom>
          <a:solidFill>
            <a:schemeClr val="bg1"/>
          </a:solidFill>
          <a:ln w="12700">
            <a:solidFill>
              <a:schemeClr val="tx2"/>
            </a:solidFill>
            <a:prstDash val="solid"/>
          </a:ln>
        </p:spPr>
      </p:sp>
      <p:sp>
        <p:nvSpPr>
          <p:cNvPr id="6" name="Text 3"/>
          <p:cNvSpPr txBox="1"/>
          <p:nvPr/>
        </p:nvSpPr>
        <p:spPr>
          <a:xfrm>
            <a:off x="493776" y="1371600"/>
            <a:ext cx="1115568" cy="731520"/>
          </a:xfrm>
          <a:prstGeom prst="rect">
            <a:avLst/>
          </a:prstGeom>
          <a:noFill/>
          <a:ln/>
        </p:spPr>
        <p:txBody>
          <a:bodyPr wrap="square" lIns="0" tIns="0" rIns="0" bIns="0" rtlCol="0" anchor="ctr"/>
          <a:lstStyle/>
          <a:p>
            <a:pPr algn="ctr" indent="0" marL="0">
              <a:buNone/>
            </a:pPr>
            <a:r>
              <a:rPr lang="en-US" sz="950" dirty="0">
                <a:solidFill>
                  <a:schemeClr val="tx1"/>
                </a:solidFill>
              </a:rPr>
              <a:t>Register</a:t>
            </a:r>
            <a:endParaRPr lang="en-US" sz="950" dirty="0"/>
          </a:p>
          <a:p>
            <a:pPr algn="ctr" indent="0" marL="0">
              <a:buNone/>
            </a:pPr>
            <a:r>
              <a:rPr lang="en-US" sz="950" dirty="0">
                <a:solidFill>
                  <a:schemeClr val="tx1"/>
                </a:solidFill>
              </a:rPr>
              <a:t>and sign in</a:t>
            </a:r>
            <a:endParaRPr lang="en-US" sz="950" dirty="0"/>
          </a:p>
        </p:txBody>
      </p:sp>
      <p:sp>
        <p:nvSpPr>
          <p:cNvPr id="7" name="Text 4"/>
          <p:cNvSpPr txBox="1"/>
          <p:nvPr/>
        </p:nvSpPr>
        <p:spPr>
          <a:xfrm>
            <a:off x="457200" y="2148840"/>
            <a:ext cx="1188720" cy="228600"/>
          </a:xfrm>
          <a:prstGeom prst="rect">
            <a:avLst/>
          </a:prstGeom>
          <a:noFill/>
          <a:ln/>
        </p:spPr>
        <p:txBody>
          <a:bodyPr wrap="square" lIns="0" tIns="0" rIns="0" bIns="0" rtlCol="0" anchor="t"/>
          <a:lstStyle/>
          <a:p>
            <a:pPr algn="ctr" indent="0" marL="0">
              <a:buNone/>
            </a:pPr>
            <a:r>
              <a:rPr lang="en-US" sz="800" b="1" dirty="0">
                <a:solidFill>
                  <a:schemeClr val="accent2"/>
                </a:solidFill>
              </a:rPr>
              <a:t>CUSTOMER</a:t>
            </a:r>
            <a:endParaRPr lang="en-US" sz="800" dirty="0"/>
          </a:p>
        </p:txBody>
      </p:sp>
      <p:sp>
        <p:nvSpPr>
          <p:cNvPr id="8" name="Shape 5"/>
          <p:cNvSpPr/>
          <p:nvPr/>
        </p:nvSpPr>
        <p:spPr>
          <a:xfrm>
            <a:off x="1645920" y="1737360"/>
            <a:ext cx="201168" cy="0"/>
          </a:xfrm>
          <a:prstGeom prst="line">
            <a:avLst/>
          </a:prstGeom>
          <a:noFill/>
          <a:ln w="13970">
            <a:solidFill>
              <a:schemeClr val="tx2"/>
            </a:solidFill>
            <a:prstDash val="solid"/>
            <a:tailEnd type="triangle"/>
          </a:ln>
        </p:spPr>
      </p:sp>
      <p:sp>
        <p:nvSpPr>
          <p:cNvPr id="9" name="node"/>
          <p:cNvSpPr/>
          <p:nvPr/>
        </p:nvSpPr>
        <p:spPr>
          <a:xfrm>
            <a:off x="1847088" y="1371600"/>
            <a:ext cx="1188720" cy="731520"/>
          </a:xfrm>
          <a:prstGeom prst="rect">
            <a:avLst/>
          </a:prstGeom>
          <a:solidFill>
            <a:schemeClr val="bg1"/>
          </a:solidFill>
          <a:ln w="12700">
            <a:solidFill>
              <a:schemeClr val="tx2"/>
            </a:solidFill>
            <a:prstDash val="solid"/>
          </a:ln>
        </p:spPr>
      </p:sp>
      <p:sp>
        <p:nvSpPr>
          <p:cNvPr id="10" name="Text 7"/>
          <p:cNvSpPr txBox="1"/>
          <p:nvPr/>
        </p:nvSpPr>
        <p:spPr>
          <a:xfrm>
            <a:off x="1883664" y="1371600"/>
            <a:ext cx="1115568" cy="731520"/>
          </a:xfrm>
          <a:prstGeom prst="rect">
            <a:avLst/>
          </a:prstGeom>
          <a:noFill/>
          <a:ln/>
        </p:spPr>
        <p:txBody>
          <a:bodyPr wrap="square" lIns="0" tIns="0" rIns="0" bIns="0" rtlCol="0" anchor="ctr"/>
          <a:lstStyle/>
          <a:p>
            <a:pPr algn="ctr" indent="0" marL="0">
              <a:buNone/>
            </a:pPr>
            <a:r>
              <a:rPr lang="en-US" sz="950" dirty="0">
                <a:solidFill>
                  <a:schemeClr val="tx1"/>
                </a:solidFill>
              </a:rPr>
              <a:t>Company,</a:t>
            </a:r>
            <a:endParaRPr lang="en-US" sz="950" dirty="0"/>
          </a:p>
          <a:p>
            <a:pPr algn="ctr" indent="0" marL="0">
              <a:buNone/>
            </a:pPr>
            <a:r>
              <a:rPr lang="en-US" sz="950" dirty="0">
                <a:solidFill>
                  <a:schemeClr val="tx1"/>
                </a:solidFill>
              </a:rPr>
              <a:t>equipment, sites</a:t>
            </a:r>
            <a:endParaRPr lang="en-US" sz="950" dirty="0"/>
          </a:p>
        </p:txBody>
      </p:sp>
      <p:sp>
        <p:nvSpPr>
          <p:cNvPr id="11" name="Text 8"/>
          <p:cNvSpPr txBox="1"/>
          <p:nvPr/>
        </p:nvSpPr>
        <p:spPr>
          <a:xfrm>
            <a:off x="1847088" y="2148840"/>
            <a:ext cx="1188720" cy="228600"/>
          </a:xfrm>
          <a:prstGeom prst="rect">
            <a:avLst/>
          </a:prstGeom>
          <a:noFill/>
          <a:ln/>
        </p:spPr>
        <p:txBody>
          <a:bodyPr wrap="square" lIns="0" tIns="0" rIns="0" bIns="0" rtlCol="0" anchor="t"/>
          <a:lstStyle/>
          <a:p>
            <a:pPr algn="ctr" indent="0" marL="0">
              <a:buNone/>
            </a:pPr>
            <a:r>
              <a:rPr lang="en-US" sz="800" b="1" dirty="0">
                <a:solidFill>
                  <a:schemeClr val="accent2"/>
                </a:solidFill>
              </a:rPr>
              <a:t>CUSTOMER</a:t>
            </a:r>
            <a:endParaRPr lang="en-US" sz="800" dirty="0"/>
          </a:p>
        </p:txBody>
      </p:sp>
      <p:sp>
        <p:nvSpPr>
          <p:cNvPr id="12" name="Shape 9"/>
          <p:cNvSpPr/>
          <p:nvPr/>
        </p:nvSpPr>
        <p:spPr>
          <a:xfrm>
            <a:off x="3035808" y="1737360"/>
            <a:ext cx="201168" cy="0"/>
          </a:xfrm>
          <a:prstGeom prst="line">
            <a:avLst/>
          </a:prstGeom>
          <a:noFill/>
          <a:ln w="13970">
            <a:solidFill>
              <a:schemeClr val="tx2"/>
            </a:solidFill>
            <a:prstDash val="solid"/>
            <a:tailEnd type="triangle"/>
          </a:ln>
        </p:spPr>
      </p:sp>
      <p:sp>
        <p:nvSpPr>
          <p:cNvPr id="13" name="node"/>
          <p:cNvSpPr/>
          <p:nvPr/>
        </p:nvSpPr>
        <p:spPr>
          <a:xfrm>
            <a:off x="3236976" y="1371600"/>
            <a:ext cx="1188720" cy="731520"/>
          </a:xfrm>
          <a:prstGeom prst="rect">
            <a:avLst/>
          </a:prstGeom>
          <a:solidFill>
            <a:schemeClr val="bg1"/>
          </a:solidFill>
          <a:ln w="12700">
            <a:solidFill>
              <a:schemeClr val="tx2"/>
            </a:solidFill>
            <a:prstDash val="solid"/>
          </a:ln>
        </p:spPr>
      </p:sp>
      <p:sp>
        <p:nvSpPr>
          <p:cNvPr id="14" name="Text 11"/>
          <p:cNvSpPr txBox="1"/>
          <p:nvPr/>
        </p:nvSpPr>
        <p:spPr>
          <a:xfrm>
            <a:off x="3273552" y="1371600"/>
            <a:ext cx="1115568" cy="731520"/>
          </a:xfrm>
          <a:prstGeom prst="rect">
            <a:avLst/>
          </a:prstGeom>
          <a:noFill/>
          <a:ln/>
        </p:spPr>
        <p:txBody>
          <a:bodyPr wrap="square" lIns="0" tIns="0" rIns="0" bIns="0" rtlCol="0" anchor="ctr"/>
          <a:lstStyle/>
          <a:p>
            <a:pPr algn="ctr" indent="0" marL="0">
              <a:buNone/>
            </a:pPr>
            <a:r>
              <a:rPr lang="en-US" sz="950" dirty="0">
                <a:solidFill>
                  <a:schemeClr val="tx1"/>
                </a:solidFill>
              </a:rPr>
              <a:t>Quote and</a:t>
            </a:r>
            <a:endParaRPr lang="en-US" sz="950" dirty="0"/>
          </a:p>
          <a:p>
            <a:pPr algn="ctr" indent="0" marL="0">
              <a:buNone/>
            </a:pPr>
            <a:r>
              <a:rPr lang="en-US" sz="950" dirty="0">
                <a:solidFill>
                  <a:schemeClr val="tx1"/>
                </a:solidFill>
              </a:rPr>
              <a:t>risk assessment</a:t>
            </a:r>
            <a:endParaRPr lang="en-US" sz="950" dirty="0"/>
          </a:p>
        </p:txBody>
      </p:sp>
      <p:sp>
        <p:nvSpPr>
          <p:cNvPr id="15" name="Text 12"/>
          <p:cNvSpPr txBox="1"/>
          <p:nvPr/>
        </p:nvSpPr>
        <p:spPr>
          <a:xfrm>
            <a:off x="3236976" y="2148840"/>
            <a:ext cx="1188720" cy="228600"/>
          </a:xfrm>
          <a:prstGeom prst="rect">
            <a:avLst/>
          </a:prstGeom>
          <a:noFill/>
          <a:ln/>
        </p:spPr>
        <p:txBody>
          <a:bodyPr wrap="square" lIns="0" tIns="0" rIns="0" bIns="0" rtlCol="0" anchor="t"/>
          <a:lstStyle/>
          <a:p>
            <a:pPr algn="ctr" indent="0" marL="0">
              <a:buNone/>
            </a:pPr>
            <a:r>
              <a:rPr lang="en-US" sz="800" b="1" dirty="0">
                <a:solidFill>
                  <a:schemeClr val="accent2"/>
                </a:solidFill>
              </a:rPr>
              <a:t>UNDERWRITER</a:t>
            </a:r>
            <a:endParaRPr lang="en-US" sz="800" dirty="0"/>
          </a:p>
        </p:txBody>
      </p:sp>
      <p:sp>
        <p:nvSpPr>
          <p:cNvPr id="16" name="Shape 13"/>
          <p:cNvSpPr/>
          <p:nvPr/>
        </p:nvSpPr>
        <p:spPr>
          <a:xfrm>
            <a:off x="4425696" y="1737360"/>
            <a:ext cx="201168" cy="0"/>
          </a:xfrm>
          <a:prstGeom prst="line">
            <a:avLst/>
          </a:prstGeom>
          <a:noFill/>
          <a:ln w="13970">
            <a:solidFill>
              <a:schemeClr val="tx2"/>
            </a:solidFill>
            <a:prstDash val="solid"/>
            <a:tailEnd type="triangle"/>
          </a:ln>
        </p:spPr>
      </p:sp>
      <p:sp>
        <p:nvSpPr>
          <p:cNvPr id="17" name="node"/>
          <p:cNvSpPr/>
          <p:nvPr/>
        </p:nvSpPr>
        <p:spPr>
          <a:xfrm>
            <a:off x="4626864" y="1371600"/>
            <a:ext cx="1188720" cy="731520"/>
          </a:xfrm>
          <a:prstGeom prst="rect">
            <a:avLst/>
          </a:prstGeom>
          <a:solidFill>
            <a:schemeClr val="bg1"/>
          </a:solidFill>
          <a:ln w="12700">
            <a:solidFill>
              <a:schemeClr val="tx2"/>
            </a:solidFill>
            <a:prstDash val="solid"/>
          </a:ln>
        </p:spPr>
      </p:sp>
      <p:sp>
        <p:nvSpPr>
          <p:cNvPr id="18" name="Text 15"/>
          <p:cNvSpPr txBox="1"/>
          <p:nvPr/>
        </p:nvSpPr>
        <p:spPr>
          <a:xfrm>
            <a:off x="4663440" y="1371600"/>
            <a:ext cx="1115568" cy="731520"/>
          </a:xfrm>
          <a:prstGeom prst="rect">
            <a:avLst/>
          </a:prstGeom>
          <a:noFill/>
          <a:ln/>
        </p:spPr>
        <p:txBody>
          <a:bodyPr wrap="square" lIns="0" tIns="0" rIns="0" bIns="0" rtlCol="0" anchor="ctr"/>
          <a:lstStyle/>
          <a:p>
            <a:pPr algn="ctr" indent="0" marL="0">
              <a:buNone/>
            </a:pPr>
            <a:r>
              <a:rPr lang="en-US" sz="950" dirty="0">
                <a:solidFill>
                  <a:schemeClr val="tx1"/>
                </a:solidFill>
              </a:rPr>
              <a:t>Policy issue</a:t>
            </a:r>
            <a:endParaRPr lang="en-US" sz="950" dirty="0"/>
          </a:p>
          <a:p>
            <a:pPr algn="ctr" indent="0" marL="0">
              <a:buNone/>
            </a:pPr>
            <a:r>
              <a:rPr lang="en-US" sz="950" dirty="0">
                <a:solidFill>
                  <a:schemeClr val="tx1"/>
                </a:solidFill>
              </a:rPr>
              <a:t>and invoice</a:t>
            </a:r>
            <a:endParaRPr lang="en-US" sz="950" dirty="0"/>
          </a:p>
        </p:txBody>
      </p:sp>
      <p:sp>
        <p:nvSpPr>
          <p:cNvPr id="19" name="Text 16"/>
          <p:cNvSpPr txBox="1"/>
          <p:nvPr/>
        </p:nvSpPr>
        <p:spPr>
          <a:xfrm>
            <a:off x="4626864" y="2148840"/>
            <a:ext cx="1188720" cy="228600"/>
          </a:xfrm>
          <a:prstGeom prst="rect">
            <a:avLst/>
          </a:prstGeom>
          <a:noFill/>
          <a:ln/>
        </p:spPr>
        <p:txBody>
          <a:bodyPr wrap="square" lIns="0" tIns="0" rIns="0" bIns="0" rtlCol="0" anchor="t"/>
          <a:lstStyle/>
          <a:p>
            <a:pPr algn="ctr" indent="0" marL="0">
              <a:buNone/>
            </a:pPr>
            <a:r>
              <a:rPr lang="en-US" sz="800" b="1" dirty="0">
                <a:solidFill>
                  <a:schemeClr val="accent2"/>
                </a:solidFill>
              </a:rPr>
              <a:t>POLICY_OFFICER</a:t>
            </a:r>
            <a:endParaRPr lang="en-US" sz="800" dirty="0"/>
          </a:p>
        </p:txBody>
      </p:sp>
      <p:sp>
        <p:nvSpPr>
          <p:cNvPr id="20" name="Shape 17"/>
          <p:cNvSpPr/>
          <p:nvPr/>
        </p:nvSpPr>
        <p:spPr>
          <a:xfrm>
            <a:off x="5815584" y="1737360"/>
            <a:ext cx="201168" cy="0"/>
          </a:xfrm>
          <a:prstGeom prst="line">
            <a:avLst/>
          </a:prstGeom>
          <a:noFill/>
          <a:ln w="13970">
            <a:solidFill>
              <a:schemeClr val="tx2"/>
            </a:solidFill>
            <a:prstDash val="solid"/>
            <a:tailEnd type="triangle"/>
          </a:ln>
        </p:spPr>
      </p:sp>
      <p:sp>
        <p:nvSpPr>
          <p:cNvPr id="21" name="node"/>
          <p:cNvSpPr/>
          <p:nvPr/>
        </p:nvSpPr>
        <p:spPr>
          <a:xfrm>
            <a:off x="6016752" y="1371600"/>
            <a:ext cx="1188720" cy="731520"/>
          </a:xfrm>
          <a:prstGeom prst="rect">
            <a:avLst/>
          </a:prstGeom>
          <a:solidFill>
            <a:schemeClr val="bg1"/>
          </a:solidFill>
          <a:ln w="12700">
            <a:solidFill>
              <a:schemeClr val="tx2"/>
            </a:solidFill>
            <a:prstDash val="solid"/>
          </a:ln>
        </p:spPr>
      </p:sp>
      <p:sp>
        <p:nvSpPr>
          <p:cNvPr id="22" name="Text 19"/>
          <p:cNvSpPr txBox="1"/>
          <p:nvPr/>
        </p:nvSpPr>
        <p:spPr>
          <a:xfrm>
            <a:off x="6053328" y="1371600"/>
            <a:ext cx="1115568" cy="731520"/>
          </a:xfrm>
          <a:prstGeom prst="rect">
            <a:avLst/>
          </a:prstGeom>
          <a:noFill/>
          <a:ln/>
        </p:spPr>
        <p:txBody>
          <a:bodyPr wrap="square" lIns="0" tIns="0" rIns="0" bIns="0" rtlCol="0" anchor="ctr"/>
          <a:lstStyle/>
          <a:p>
            <a:pPr algn="ctr" indent="0" marL="0">
              <a:buNone/>
            </a:pPr>
            <a:r>
              <a:rPr lang="en-US" sz="950" dirty="0">
                <a:solidFill>
                  <a:schemeClr val="tx1"/>
                </a:solidFill>
              </a:rPr>
              <a:t>FNOL</a:t>
            </a:r>
            <a:endParaRPr lang="en-US" sz="950" dirty="0"/>
          </a:p>
        </p:txBody>
      </p:sp>
      <p:sp>
        <p:nvSpPr>
          <p:cNvPr id="23" name="Text 20"/>
          <p:cNvSpPr txBox="1"/>
          <p:nvPr/>
        </p:nvSpPr>
        <p:spPr>
          <a:xfrm>
            <a:off x="6016752" y="2148840"/>
            <a:ext cx="1188720" cy="228600"/>
          </a:xfrm>
          <a:prstGeom prst="rect">
            <a:avLst/>
          </a:prstGeom>
          <a:noFill/>
          <a:ln/>
        </p:spPr>
        <p:txBody>
          <a:bodyPr wrap="square" lIns="0" tIns="0" rIns="0" bIns="0" rtlCol="0" anchor="t"/>
          <a:lstStyle/>
          <a:p>
            <a:pPr algn="ctr" indent="0" marL="0">
              <a:buNone/>
            </a:pPr>
            <a:r>
              <a:rPr lang="en-US" sz="800" b="1" dirty="0">
                <a:solidFill>
                  <a:schemeClr val="accent2"/>
                </a:solidFill>
              </a:rPr>
              <a:t>CUSTOMER</a:t>
            </a:r>
            <a:endParaRPr lang="en-US" sz="800" dirty="0"/>
          </a:p>
        </p:txBody>
      </p:sp>
      <p:sp>
        <p:nvSpPr>
          <p:cNvPr id="24" name="Shape 21"/>
          <p:cNvSpPr/>
          <p:nvPr/>
        </p:nvSpPr>
        <p:spPr>
          <a:xfrm>
            <a:off x="7205472" y="1737360"/>
            <a:ext cx="201168" cy="0"/>
          </a:xfrm>
          <a:prstGeom prst="line">
            <a:avLst/>
          </a:prstGeom>
          <a:noFill/>
          <a:ln w="13970">
            <a:solidFill>
              <a:schemeClr val="tx2"/>
            </a:solidFill>
            <a:prstDash val="solid"/>
            <a:tailEnd type="triangle"/>
          </a:ln>
        </p:spPr>
      </p:sp>
      <p:sp>
        <p:nvSpPr>
          <p:cNvPr id="25" name="node"/>
          <p:cNvSpPr/>
          <p:nvPr/>
        </p:nvSpPr>
        <p:spPr>
          <a:xfrm>
            <a:off x="7406640" y="1371600"/>
            <a:ext cx="1188720" cy="731520"/>
          </a:xfrm>
          <a:prstGeom prst="rect">
            <a:avLst/>
          </a:prstGeom>
          <a:solidFill>
            <a:schemeClr val="bg1"/>
          </a:solidFill>
          <a:ln w="12700">
            <a:solidFill>
              <a:schemeClr val="tx2"/>
            </a:solidFill>
            <a:prstDash val="solid"/>
          </a:ln>
        </p:spPr>
      </p:sp>
      <p:sp>
        <p:nvSpPr>
          <p:cNvPr id="26" name="Text 23"/>
          <p:cNvSpPr txBox="1"/>
          <p:nvPr/>
        </p:nvSpPr>
        <p:spPr>
          <a:xfrm>
            <a:off x="7443216" y="1371600"/>
            <a:ext cx="1115568" cy="731520"/>
          </a:xfrm>
          <a:prstGeom prst="rect">
            <a:avLst/>
          </a:prstGeom>
          <a:noFill/>
          <a:ln/>
        </p:spPr>
        <p:txBody>
          <a:bodyPr wrap="square" lIns="0" tIns="0" rIns="0" bIns="0" rtlCol="0" anchor="ctr"/>
          <a:lstStyle/>
          <a:p>
            <a:pPr algn="ctr" indent="0" marL="0">
              <a:buNone/>
            </a:pPr>
            <a:r>
              <a:rPr lang="en-US" sz="950" dirty="0">
                <a:solidFill>
                  <a:schemeClr val="tx1"/>
                </a:solidFill>
              </a:rPr>
              <a:t>Assess and</a:t>
            </a:r>
            <a:endParaRPr lang="en-US" sz="950" dirty="0"/>
          </a:p>
          <a:p>
            <a:pPr algn="ctr" indent="0" marL="0">
              <a:buNone/>
            </a:pPr>
            <a:r>
              <a:rPr lang="en-US" sz="950" dirty="0">
                <a:solidFill>
                  <a:schemeClr val="tx1"/>
                </a:solidFill>
              </a:rPr>
              <a:t>settle</a:t>
            </a:r>
            <a:endParaRPr lang="en-US" sz="950" dirty="0"/>
          </a:p>
        </p:txBody>
      </p:sp>
      <p:sp>
        <p:nvSpPr>
          <p:cNvPr id="27" name="Text 24"/>
          <p:cNvSpPr txBox="1"/>
          <p:nvPr/>
        </p:nvSpPr>
        <p:spPr>
          <a:xfrm>
            <a:off x="7406640" y="2148840"/>
            <a:ext cx="1188720" cy="228600"/>
          </a:xfrm>
          <a:prstGeom prst="rect">
            <a:avLst/>
          </a:prstGeom>
          <a:noFill/>
          <a:ln/>
        </p:spPr>
        <p:txBody>
          <a:bodyPr wrap="square" lIns="0" tIns="0" rIns="0" bIns="0" rtlCol="0" anchor="t"/>
          <a:lstStyle/>
          <a:p>
            <a:pPr algn="ctr" indent="0" marL="0">
              <a:buNone/>
            </a:pPr>
            <a:r>
              <a:rPr lang="en-US" sz="800" b="1" dirty="0">
                <a:solidFill>
                  <a:schemeClr val="accent2"/>
                </a:solidFill>
              </a:rPr>
              <a:t>CLAIMS_OFFICER</a:t>
            </a:r>
            <a:endParaRPr lang="en-US" sz="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2606040"/>
          <a:ext cx="8229600" cy="914400"/>
        </p:xfrm>
        <a:graphic>
          <a:graphicData uri="http://schemas.openxmlformats.org/drawingml/2006/table">
            <a:tbl>
              <a:tblPr/>
              <a:tblGrid>
                <a:gridCol w="1097280"/>
                <a:gridCol w="7132320"/>
              </a:tblGrid>
              <a:tr h="0">
                <a:tc>
                  <a:txBody>
                    <a:bodyPr/>
                    <a:lstStyle/>
                    <a:p>
                      <a:pPr indent="0" marL="0">
                        <a:buNone/>
                      </a:pPr>
                      <a:r>
                        <a:rPr lang="en-US" sz="900" b="1" dirty="0">
                          <a:solidFill>
                            <a:srgbClr val="FFFFFF"/>
                          </a:solidFill>
                          <a:latin typeface="Manrope" pitchFamily="34" charset="0"/>
                          <a:ea typeface="Manrope" pitchFamily="34" charset="-122"/>
                          <a:cs typeface="Manrope" pitchFamily="34" charset="-120"/>
                        </a:rPr>
                        <a:t>Entity</a:t>
                      </a:r>
                      <a:endParaRPr lang="en-US" sz="90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c>
                  <a:txBody>
                    <a:bodyPr/>
                    <a:lstStyle/>
                    <a:p>
                      <a:pPr indent="0" marL="0">
                        <a:buNone/>
                      </a:pPr>
                      <a:r>
                        <a:rPr lang="en-US" sz="900" b="1" dirty="0">
                          <a:solidFill>
                            <a:srgbClr val="FFFFFF"/>
                          </a:solidFill>
                          <a:latin typeface="Manrope" pitchFamily="34" charset="0"/>
                          <a:ea typeface="Manrope" pitchFamily="34" charset="-122"/>
                          <a:cs typeface="Manrope" pitchFamily="34" charset="-120"/>
                        </a:rPr>
                        <a:t>Status values (from enums)</a:t>
                      </a:r>
                      <a:endParaRPr lang="en-US" sz="900" dirty="0">
                        <a:latin typeface="Manrope" charset="0"/>
                        <a:ea typeface="Manrope" charset="0"/>
                        <a:cs typeface="Manrope" charset="0"/>
                      </a:endParaRPr>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3B2434"/>
                    </a:solidFill>
                  </a:tcPr>
                </a:tc>
              </a:tr>
              <a:tr h="0">
                <a:tc>
                  <a:txBody>
                    <a:bodyPr/>
                    <a:lstStyle/>
                    <a:p>
                      <a:pPr indent="0" marL="0">
                        <a:buNone/>
                      </a:pPr>
                      <a:r>
                        <a:rPr lang="en-US" sz="1000" dirty="0">
                          <a:solidFill>
                            <a:srgbClr val="211E1F"/>
                          </a:solidFill>
                        </a:rPr>
                        <a:t>Quote</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00" dirty="0">
                          <a:solidFill>
                            <a:srgbClr val="211E1F"/>
                          </a:solidFill>
                        </a:rPr>
                        <a:t>DRAFT, SUBMITTED, UNDER_REVIEW, INFORMATION_REQUIRED, INSPECTION_REQUIRED, APPROVED, REJECTED, ACCEPTED, DECLINED, EXPIRED</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211E1F"/>
                          </a:solidFill>
                        </a:rPr>
                        <a:t>Policy</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00" dirty="0">
                          <a:solidFill>
                            <a:srgbClr val="211E1F"/>
                          </a:solidFill>
                        </a:rPr>
                        <a:t>PENDING_PAYMENT, ACTIVE, EXPIRED, CANCELLED, RENEWED</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r h="0">
                <a:tc>
                  <a:txBody>
                    <a:bodyPr/>
                    <a:lstStyle/>
                    <a:p>
                      <a:pPr indent="0" marL="0">
                        <a:buNone/>
                      </a:pPr>
                      <a:r>
                        <a:rPr lang="en-US" sz="1000" dirty="0">
                          <a:solidFill>
                            <a:srgbClr val="211E1F"/>
                          </a:solidFill>
                        </a:rPr>
                        <a:t>Claim</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c>
                  <a:txBody>
                    <a:bodyPr/>
                    <a:lstStyle/>
                    <a:p>
                      <a:pPr indent="0" marL="0">
                        <a:buNone/>
                      </a:pPr>
                      <a:r>
                        <a:rPr lang="en-US" sz="1000" dirty="0">
                          <a:solidFill>
                            <a:srgbClr val="211E1F"/>
                          </a:solidFill>
                        </a:rPr>
                        <a:t>REGISTERED, UNDER_REVIEW, ASSESSMENT_COMPLETED, SETTLEMENT_REVIEW, PAYMENT_PENDING, PAID, CLOSED (plus 8 others)</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211E1F"/>
                          </a:solidFill>
                        </a:rPr>
                        <a:t>Invoice</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c>
                  <a:txBody>
                    <a:bodyPr/>
                    <a:lstStyle/>
                    <a:p>
                      <a:pPr indent="0" marL="0">
                        <a:buNone/>
                      </a:pPr>
                      <a:r>
                        <a:rPr lang="en-US" sz="1000" dirty="0">
                          <a:solidFill>
                            <a:srgbClr val="211E1F"/>
                          </a:solidFill>
                        </a:rPr>
                        <a:t>ISSUED, PARTIALLY_PAID, PAID, OVERDUE, CANCELLED, REFUNDED</a:t>
                      </a:r>
                      <a:endParaRPr lang="en-US" sz="1000" dirty="0"/>
                    </a:p>
                  </a:txBody>
                  <a:tcPr marL="64008" marR="64008" marT="36576" marB="36576" anchor="ctr">
                    <a:lnL w="6350" cap="flat" cmpd="sng" algn="ctr">
                      <a:solidFill>
                        <a:srgbClr val="D9D0C7"/>
                      </a:solidFill>
                      <a:prstDash val="solid"/>
                      <a:round/>
                      <a:headEnd type="none" w="med" len="med"/>
                      <a:tailEnd type="none" w="med" len="med"/>
                    </a:lnL>
                    <a:lnR w="6350" cap="flat" cmpd="sng" algn="ctr">
                      <a:solidFill>
                        <a:srgbClr val="D9D0C7"/>
                      </a:solidFill>
                      <a:prstDash val="solid"/>
                      <a:round/>
                      <a:headEnd type="none" w="med" len="med"/>
                      <a:tailEnd type="none" w="med" len="med"/>
                    </a:lnR>
                    <a:lnT w="6350" cap="flat" cmpd="sng" algn="ctr">
                      <a:solidFill>
                        <a:srgbClr val="D9D0C7"/>
                      </a:solidFill>
                      <a:prstDash val="solid"/>
                      <a:round/>
                      <a:headEnd type="none" w="med" len="med"/>
                      <a:tailEnd type="none" w="med" len="med"/>
                    </a:lnT>
                    <a:lnB w="6350" cap="flat" cmpd="sng" algn="ctr">
                      <a:solidFill>
                        <a:srgbClr val="D9D0C7"/>
                      </a:solidFill>
                      <a:prstDash val="solid"/>
                      <a:round/>
                      <a:headEnd type="none" w="med" len="med"/>
                      <a:tailEnd type="none" w="med" len="med"/>
                    </a:lnB>
                    <a:solidFill>
                      <a:srgbClr val="F6F1E8"/>
                    </a:solidFill>
                  </a:tcPr>
                </a:tc>
              </a:tr>
            </a:tbl>
          </a:graphicData>
        </a:graphic>
      </p:graphicFrame>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100" b="1" dirty="0">
                <a:solidFill>
                  <a:schemeClr val="tx2"/>
                </a:solidFill>
                <a:latin typeface="Manrope" pitchFamily="34" charset="0"/>
                <a:ea typeface="Manrope" pitchFamily="34" charset="-122"/>
                <a:cs typeface="Manrope" pitchFamily="34" charset="-120"/>
              </a:rPr>
              <a:t>Achievements, limitations and proposed enhancements</a:t>
            </a:r>
            <a:endParaRPr lang="en-US" sz="2100" dirty="0"/>
          </a:p>
        </p:txBody>
      </p:sp>
      <p:sp>
        <p:nvSpPr>
          <p:cNvPr id="4" name="Text 1"/>
          <p:cNvSpPr txBox="1"/>
          <p:nvPr/>
        </p:nvSpPr>
        <p:spPr>
          <a:xfrm>
            <a:off x="457200" y="868680"/>
            <a:ext cx="8229600" cy="274320"/>
          </a:xfrm>
          <a:prstGeom prst="rect">
            <a:avLst/>
          </a:prstGeom>
          <a:noFill/>
          <a:ln/>
        </p:spPr>
        <p:txBody>
          <a:bodyPr wrap="square" lIns="0" tIns="0" rIns="0" bIns="0" rtlCol="0" anchor="t"/>
          <a:lstStyle/>
          <a:p>
            <a:pPr indent="0" marL="0">
              <a:buNone/>
            </a:pPr>
            <a:r>
              <a:rPr lang="en-US" sz="1150" i="1" dirty="0">
                <a:solidFill>
                  <a:schemeClr val="accent5"/>
                </a:solidFill>
              </a:rPr>
              <a:t>Implemented vs limited vs proposed - kept separate.</a:t>
            </a:r>
            <a:endParaRPr lang="en-US" sz="1150" dirty="0"/>
          </a:p>
        </p:txBody>
      </p:sp>
      <p:sp>
        <p:nvSpPr>
          <p:cNvPr id="5" name="Shape 2"/>
          <p:cNvSpPr/>
          <p:nvPr/>
        </p:nvSpPr>
        <p:spPr>
          <a:xfrm>
            <a:off x="457200" y="1280160"/>
            <a:ext cx="2651760" cy="3246120"/>
          </a:xfrm>
          <a:prstGeom prst="rect">
            <a:avLst/>
          </a:prstGeom>
          <a:solidFill>
            <a:schemeClr val="bg1"/>
          </a:solidFill>
          <a:ln w="9525">
            <a:solidFill>
              <a:schemeClr val="accent6"/>
            </a:solidFill>
            <a:prstDash val="solid"/>
          </a:ln>
        </p:spPr>
      </p:sp>
      <p:sp>
        <p:nvSpPr>
          <p:cNvPr id="6" name="Shape 3"/>
          <p:cNvSpPr/>
          <p:nvPr/>
        </p:nvSpPr>
        <p:spPr>
          <a:xfrm>
            <a:off x="457200" y="1280160"/>
            <a:ext cx="45720" cy="3246120"/>
          </a:xfrm>
          <a:prstGeom prst="rect">
            <a:avLst/>
          </a:prstGeom>
          <a:solidFill>
            <a:schemeClr val="accent3"/>
          </a:solidFill>
          <a:ln w="12700">
            <a:solidFill>
              <a:schemeClr val="accent3"/>
            </a:solidFill>
            <a:prstDash val="solid"/>
          </a:ln>
        </p:spPr>
      </p:sp>
      <p:sp>
        <p:nvSpPr>
          <p:cNvPr id="7" name="Text 4"/>
          <p:cNvSpPr txBox="1"/>
          <p:nvPr/>
        </p:nvSpPr>
        <p:spPr>
          <a:xfrm>
            <a:off x="621792" y="1371600"/>
            <a:ext cx="2377440" cy="256032"/>
          </a:xfrm>
          <a:prstGeom prst="rect">
            <a:avLst/>
          </a:prstGeom>
          <a:noFill/>
          <a:ln/>
        </p:spPr>
        <p:txBody>
          <a:bodyPr wrap="square" lIns="0" tIns="0" rIns="0" bIns="0" rtlCol="0" anchor="t"/>
          <a:lstStyle/>
          <a:p>
            <a:pPr indent="0" marL="0">
              <a:buNone/>
            </a:pPr>
            <a:r>
              <a:rPr lang="en-US" sz="1150" b="1" dirty="0">
                <a:solidFill>
                  <a:schemeClr val="tx2"/>
                </a:solidFill>
                <a:latin typeface="Manrope" pitchFamily="34" charset="0"/>
                <a:ea typeface="Manrope" pitchFamily="34" charset="-122"/>
                <a:cs typeface="Manrope" pitchFamily="34" charset="-120"/>
              </a:rPr>
              <a:t>Implemented</a:t>
            </a:r>
            <a:endParaRPr lang="en-US" sz="1150" dirty="0"/>
          </a:p>
        </p:txBody>
      </p:sp>
      <p:sp>
        <p:nvSpPr>
          <p:cNvPr id="8" name="Text 5"/>
          <p:cNvSpPr txBox="1"/>
          <p:nvPr/>
        </p:nvSpPr>
        <p:spPr>
          <a:xfrm>
            <a:off x="621792" y="1664208"/>
            <a:ext cx="2377440" cy="278892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chemeClr val="tx1"/>
                </a:solidFill>
              </a:rPr>
              <a:t>5 business services + gateway + Eureka</a:t>
            </a:r>
            <a:endParaRPr lang="en-US" sz="1050" dirty="0"/>
          </a:p>
          <a:p>
            <a:pPr marL="152400" indent="-152400">
              <a:spcAft>
                <a:spcPts val="500"/>
              </a:spcAft>
              <a:buSzPct val="100000"/>
              <a:buChar char="•"/>
            </a:pPr>
            <a:r>
              <a:rPr lang="en-US" sz="1050" dirty="0">
                <a:solidFill>
                  <a:schemeClr val="tx1"/>
                </a:solidFill>
              </a:rPr>
              <a:t>17 tables in 5 databases</a:t>
            </a:r>
            <a:endParaRPr lang="en-US" sz="1050" dirty="0"/>
          </a:p>
          <a:p>
            <a:pPr marL="152400" indent="-152400">
              <a:spcAft>
                <a:spcPts val="500"/>
              </a:spcAft>
              <a:buSzPct val="100000"/>
              <a:buChar char="•"/>
            </a:pPr>
            <a:r>
              <a:rPr lang="en-US" sz="1050" dirty="0">
                <a:solidFill>
                  <a:schemeClr val="tx1"/>
                </a:solidFill>
              </a:rPr>
              <a:t>102 REST handlers, 5 roles</a:t>
            </a:r>
            <a:endParaRPr lang="en-US" sz="1050" dirty="0"/>
          </a:p>
          <a:p>
            <a:pPr marL="152400" indent="-152400">
              <a:spcAft>
                <a:spcPts val="500"/>
              </a:spcAft>
              <a:buSzPct val="100000"/>
              <a:buChar char="•"/>
            </a:pPr>
            <a:r>
              <a:rPr lang="en-US" sz="1050" dirty="0">
                <a:solidFill>
                  <a:schemeClr val="tx1"/>
                </a:solidFill>
              </a:rPr>
              <a:t>Settlement, premium and total-loss rules</a:t>
            </a:r>
            <a:endParaRPr lang="en-US" sz="1050" dirty="0"/>
          </a:p>
          <a:p>
            <a:pPr marL="152400" indent="-152400">
              <a:spcAft>
                <a:spcPts val="500"/>
              </a:spcAft>
              <a:buSzPct val="100000"/>
              <a:buChar char="•"/>
            </a:pPr>
            <a:r>
              <a:rPr lang="en-US" sz="1050" dirty="0">
                <a:solidFill>
                  <a:schemeClr val="tx1"/>
                </a:solidFill>
              </a:rPr>
              <a:t>Role-aware Angular app with guards</a:t>
            </a:r>
            <a:endParaRPr lang="en-US" sz="1050" dirty="0"/>
          </a:p>
        </p:txBody>
      </p:sp>
      <p:sp>
        <p:nvSpPr>
          <p:cNvPr id="9" name="Shape 6"/>
          <p:cNvSpPr/>
          <p:nvPr/>
        </p:nvSpPr>
        <p:spPr>
          <a:xfrm>
            <a:off x="3246120" y="1280160"/>
            <a:ext cx="2651760" cy="3246120"/>
          </a:xfrm>
          <a:prstGeom prst="rect">
            <a:avLst/>
          </a:prstGeom>
          <a:solidFill>
            <a:schemeClr val="bg1"/>
          </a:solidFill>
          <a:ln w="9525">
            <a:solidFill>
              <a:schemeClr val="accent6"/>
            </a:solidFill>
            <a:prstDash val="solid"/>
          </a:ln>
        </p:spPr>
      </p:sp>
      <p:sp>
        <p:nvSpPr>
          <p:cNvPr id="10" name="Shape 7"/>
          <p:cNvSpPr/>
          <p:nvPr/>
        </p:nvSpPr>
        <p:spPr>
          <a:xfrm>
            <a:off x="3246120" y="1280160"/>
            <a:ext cx="45720" cy="3246120"/>
          </a:xfrm>
          <a:prstGeom prst="rect">
            <a:avLst/>
          </a:prstGeom>
          <a:solidFill>
            <a:schemeClr val="accent4"/>
          </a:solidFill>
          <a:ln w="12700">
            <a:solidFill>
              <a:schemeClr val="accent4"/>
            </a:solidFill>
            <a:prstDash val="solid"/>
          </a:ln>
        </p:spPr>
      </p:sp>
      <p:sp>
        <p:nvSpPr>
          <p:cNvPr id="11" name="Text 8"/>
          <p:cNvSpPr txBox="1"/>
          <p:nvPr/>
        </p:nvSpPr>
        <p:spPr>
          <a:xfrm>
            <a:off x="3410712" y="1371600"/>
            <a:ext cx="2377440" cy="256032"/>
          </a:xfrm>
          <a:prstGeom prst="rect">
            <a:avLst/>
          </a:prstGeom>
          <a:noFill/>
          <a:ln/>
        </p:spPr>
        <p:txBody>
          <a:bodyPr wrap="square" lIns="0" tIns="0" rIns="0" bIns="0" rtlCol="0" anchor="t"/>
          <a:lstStyle/>
          <a:p>
            <a:pPr indent="0" marL="0">
              <a:buNone/>
            </a:pPr>
            <a:r>
              <a:rPr lang="en-US" sz="1150" b="1" dirty="0">
                <a:solidFill>
                  <a:schemeClr val="tx2"/>
                </a:solidFill>
                <a:latin typeface="Manrope" pitchFamily="34" charset="0"/>
                <a:ea typeface="Manrope" pitchFamily="34" charset="-122"/>
                <a:cs typeface="Manrope" pitchFamily="34" charset="-120"/>
              </a:rPr>
              <a:t>Limitations</a:t>
            </a:r>
            <a:endParaRPr lang="en-US" sz="1150" dirty="0"/>
          </a:p>
        </p:txBody>
      </p:sp>
      <p:sp>
        <p:nvSpPr>
          <p:cNvPr id="12" name="Text 9"/>
          <p:cNvSpPr txBox="1"/>
          <p:nvPr/>
        </p:nvSpPr>
        <p:spPr>
          <a:xfrm>
            <a:off x="3410712" y="1664208"/>
            <a:ext cx="2377440" cy="278892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chemeClr val="tx1"/>
                </a:solidFill>
              </a:rPr>
              <a:t>Endorsement pro-rata, discounts, insured-value terms missing</a:t>
            </a:r>
            <a:endParaRPr lang="en-US" sz="1050" dirty="0"/>
          </a:p>
          <a:p>
            <a:pPr marL="152400" indent="-152400">
              <a:spcAft>
                <a:spcPts val="500"/>
              </a:spcAft>
              <a:buSzPct val="100000"/>
              <a:buChar char="•"/>
            </a:pPr>
            <a:r>
              <a:rPr lang="en-US" sz="1050" dirty="0">
                <a:solidFill>
                  <a:schemeClr val="tx1"/>
                </a:solidFill>
              </a:rPr>
              <a:t>Single deductible, no valuation methods</a:t>
            </a:r>
            <a:endParaRPr lang="en-US" sz="1050" dirty="0"/>
          </a:p>
          <a:p>
            <a:pPr marL="152400" indent="-152400">
              <a:spcAft>
                <a:spcPts val="500"/>
              </a:spcAft>
              <a:buSzPct val="100000"/>
              <a:buChar char="•"/>
            </a:pPr>
            <a:r>
              <a:rPr lang="en-US" sz="1050" dirty="0">
                <a:solidFill>
                  <a:schemeClr val="tx1"/>
                </a:solidFill>
              </a:rPr>
              <a:t>No retries or circuit breakers</a:t>
            </a:r>
            <a:endParaRPr lang="en-US" sz="1050" dirty="0"/>
          </a:p>
          <a:p>
            <a:pPr marL="152400" indent="-152400">
              <a:spcAft>
                <a:spcPts val="500"/>
              </a:spcAft>
              <a:buSzPct val="100000"/>
              <a:buChar char="•"/>
            </a:pPr>
            <a:r>
              <a:rPr lang="en-US" sz="1050" dirty="0">
                <a:solidFill>
                  <a:schemeClr val="tx1"/>
                </a:solidFill>
              </a:rPr>
              <a:t>Tests concentrated in Auth; no coverage data</a:t>
            </a:r>
            <a:endParaRPr lang="en-US" sz="1050" dirty="0"/>
          </a:p>
          <a:p>
            <a:pPr marL="152400" indent="-152400">
              <a:spcAft>
                <a:spcPts val="500"/>
              </a:spcAft>
              <a:buSzPct val="100000"/>
              <a:buChar char="•"/>
            </a:pPr>
            <a:r>
              <a:rPr lang="en-US" sz="1050" dirty="0">
                <a:solidFill>
                  <a:schemeClr val="tx1"/>
                </a:solidFill>
              </a:rPr>
              <a:t>Deployment and gateway routes not evidenced</a:t>
            </a:r>
            <a:endParaRPr lang="en-US" sz="1050" dirty="0"/>
          </a:p>
        </p:txBody>
      </p:sp>
      <p:sp>
        <p:nvSpPr>
          <p:cNvPr id="13" name="Shape 10"/>
          <p:cNvSpPr/>
          <p:nvPr/>
        </p:nvSpPr>
        <p:spPr>
          <a:xfrm>
            <a:off x="6035040" y="1280160"/>
            <a:ext cx="2651760" cy="3246120"/>
          </a:xfrm>
          <a:prstGeom prst="rect">
            <a:avLst/>
          </a:prstGeom>
          <a:solidFill>
            <a:schemeClr val="bg1"/>
          </a:solidFill>
          <a:ln w="9525">
            <a:solidFill>
              <a:schemeClr val="accent6"/>
            </a:solidFill>
            <a:prstDash val="solid"/>
          </a:ln>
        </p:spPr>
      </p:sp>
      <p:sp>
        <p:nvSpPr>
          <p:cNvPr id="14" name="Shape 11"/>
          <p:cNvSpPr/>
          <p:nvPr/>
        </p:nvSpPr>
        <p:spPr>
          <a:xfrm>
            <a:off x="6035040" y="1280160"/>
            <a:ext cx="45720" cy="3246120"/>
          </a:xfrm>
          <a:prstGeom prst="rect">
            <a:avLst/>
          </a:prstGeom>
          <a:solidFill>
            <a:schemeClr val="accent2"/>
          </a:solidFill>
          <a:ln w="12700">
            <a:solidFill>
              <a:schemeClr val="accent2"/>
            </a:solidFill>
            <a:prstDash val="solid"/>
          </a:ln>
        </p:spPr>
      </p:sp>
      <p:sp>
        <p:nvSpPr>
          <p:cNvPr id="15" name="Text 12"/>
          <p:cNvSpPr txBox="1"/>
          <p:nvPr/>
        </p:nvSpPr>
        <p:spPr>
          <a:xfrm>
            <a:off x="6199632" y="1371600"/>
            <a:ext cx="2377440" cy="256032"/>
          </a:xfrm>
          <a:prstGeom prst="rect">
            <a:avLst/>
          </a:prstGeom>
          <a:noFill/>
          <a:ln/>
        </p:spPr>
        <p:txBody>
          <a:bodyPr wrap="square" lIns="0" tIns="0" rIns="0" bIns="0" rtlCol="0" anchor="t"/>
          <a:lstStyle/>
          <a:p>
            <a:pPr indent="0" marL="0">
              <a:buNone/>
            </a:pPr>
            <a:r>
              <a:rPr lang="en-US" sz="1150" b="1" dirty="0">
                <a:solidFill>
                  <a:schemeClr val="tx2"/>
                </a:solidFill>
                <a:latin typeface="Manrope" pitchFamily="34" charset="0"/>
                <a:ea typeface="Manrope" pitchFamily="34" charset="-122"/>
                <a:cs typeface="Manrope" pitchFamily="34" charset="-120"/>
              </a:rPr>
              <a:t>Proposed (future scope)</a:t>
            </a:r>
            <a:endParaRPr lang="en-US" sz="1150" dirty="0"/>
          </a:p>
        </p:txBody>
      </p:sp>
      <p:sp>
        <p:nvSpPr>
          <p:cNvPr id="16" name="Text 13"/>
          <p:cNvSpPr txBox="1"/>
          <p:nvPr/>
        </p:nvSpPr>
        <p:spPr>
          <a:xfrm>
            <a:off x="6199632" y="1664208"/>
            <a:ext cx="2377440" cy="278892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chemeClr val="tx1"/>
                </a:solidFill>
              </a:rPr>
              <a:t>Short: ownership checks, token-type check, lockout, schema fixes</a:t>
            </a:r>
            <a:endParaRPr lang="en-US" sz="1050" dirty="0"/>
          </a:p>
          <a:p>
            <a:pPr marL="152400" indent="-152400">
              <a:spcAft>
                <a:spcPts val="500"/>
              </a:spcAft>
              <a:buSzPct val="100000"/>
              <a:buChar char="•"/>
            </a:pPr>
            <a:r>
              <a:rPr lang="en-US" sz="1050" dirty="0">
                <a:solidFill>
                  <a:schemeClr val="tx1"/>
                </a:solidFill>
              </a:rPr>
              <a:t>Medium: pro-rated endorsements, observability, coverage and TC-001..010</a:t>
            </a:r>
            <a:endParaRPr lang="en-US" sz="1050" dirty="0"/>
          </a:p>
          <a:p>
            <a:pPr marL="152400" indent="-152400">
              <a:spcAft>
                <a:spcPts val="500"/>
              </a:spcAft>
              <a:buSzPct val="100000"/>
              <a:buChar char="•"/>
            </a:pPr>
            <a:r>
              <a:rPr lang="en-US" sz="1050" dirty="0">
                <a:solidFill>
                  <a:schemeClr val="tx1"/>
                </a:solidFill>
              </a:rPr>
              <a:t>Long: asymmetric JWT with rotation and revocation; resilience patterns</a:t>
            </a:r>
            <a:endParaRPr lang="en-US" sz="105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548640"/>
            <a:ext cx="8229600" cy="457200"/>
          </a:xfrm>
          <a:prstGeom prst="rect">
            <a:avLst/>
          </a:prstGeom>
          <a:noFill/>
          <a:ln/>
        </p:spPr>
        <p:txBody>
          <a:bodyPr wrap="square" lIns="0" tIns="0" rIns="0" bIns="0" rtlCol="0" anchor="ctr"/>
          <a:lstStyle/>
          <a:p>
            <a:pPr indent="0" marL="0">
              <a:buNone/>
            </a:pPr>
            <a:r>
              <a:rPr lang="en-US" sz="2600" b="1" dirty="0">
                <a:solidFill>
                  <a:schemeClr val="bg1"/>
                </a:solidFill>
                <a:latin typeface="Manrope" pitchFamily="34" charset="0"/>
                <a:ea typeface="Manrope" pitchFamily="34" charset="-122"/>
                <a:cs typeface="Manrope" pitchFamily="34" charset="-120"/>
              </a:rPr>
              <a:t>Conclusion</a:t>
            </a:r>
            <a:endParaRPr lang="en-US" sz="2600" dirty="0"/>
          </a:p>
        </p:txBody>
      </p:sp>
      <p:sp>
        <p:nvSpPr>
          <p:cNvPr id="3" name="Text 1"/>
          <p:cNvSpPr txBox="1"/>
          <p:nvPr/>
        </p:nvSpPr>
        <p:spPr>
          <a:xfrm>
            <a:off x="457200" y="1371600"/>
            <a:ext cx="8229600" cy="1280160"/>
          </a:xfrm>
          <a:prstGeom prst="rect">
            <a:avLst/>
          </a:prstGeom>
          <a:noFill/>
          <a:ln/>
        </p:spPr>
        <p:txBody>
          <a:bodyPr wrap="square" lIns="0" tIns="0" rIns="0" bIns="0" rtlCol="0" anchor="t"/>
          <a:lstStyle/>
          <a:p>
            <a:pPr marL="152400" indent="-152400">
              <a:spcAft>
                <a:spcPts val="800"/>
              </a:spcAft>
              <a:buSzPct val="100000"/>
              <a:buChar char="•"/>
            </a:pPr>
            <a:r>
              <a:rPr lang="en-US" sz="1400" dirty="0">
                <a:solidFill>
                  <a:schemeClr val="accent6"/>
                </a:solidFill>
              </a:rPr>
              <a:t>RIGVA is a substantial microservices system covering the full insurance lifecycle</a:t>
            </a:r>
            <a:endParaRPr lang="en-US" sz="1400" dirty="0"/>
          </a:p>
          <a:p>
            <a:pPr marL="152400" indent="-152400">
              <a:spcAft>
                <a:spcPts val="800"/>
              </a:spcAft>
              <a:buSzPct val="100000"/>
              <a:buChar char="•"/>
            </a:pPr>
            <a:r>
              <a:rPr lang="en-US" sz="1400" dirty="0">
                <a:solidFill>
                  <a:schemeClr val="accent6"/>
                </a:solidFill>
              </a:rPr>
              <a:t>Core business rules are implemented in dedicated rule classes</a:t>
            </a:r>
            <a:endParaRPr lang="en-US" sz="1400" dirty="0"/>
          </a:p>
          <a:p>
            <a:pPr marL="152400" indent="-152400">
              <a:spcAft>
                <a:spcPts val="800"/>
              </a:spcAft>
              <a:buSzPct val="100000"/>
              <a:buChar char="•"/>
            </a:pPr>
            <a:r>
              <a:rPr lang="en-US" sz="1400" dirty="0">
                <a:solidFill>
                  <a:schemeClr val="accent6"/>
                </a:solidFill>
              </a:rPr>
              <a:t>Security, test depth and a few domain rules need work before production use</a:t>
            </a:r>
            <a:endParaRPr lang="en-US" sz="1400" dirty="0"/>
          </a:p>
          <a:p>
            <a:pPr marL="152400" indent="-152400">
              <a:buSzPct val="100000"/>
              <a:buChar char="•"/>
            </a:pPr>
            <a:r>
              <a:rPr lang="en-US" sz="1400" dirty="0">
                <a:solidFill>
                  <a:schemeClr val="accent6"/>
                </a:solidFill>
              </a:rPr>
              <a:t>Runtime behaviour and coverage are not claimed; they need verification</a:t>
            </a:r>
            <a:endParaRPr lang="en-US" sz="1400" dirty="0"/>
          </a:p>
        </p:txBody>
      </p:sp>
      <p:sp>
        <p:nvSpPr>
          <p:cNvPr id="4" name="Text 2"/>
          <p:cNvSpPr txBox="1"/>
          <p:nvPr/>
        </p:nvSpPr>
        <p:spPr>
          <a:xfrm>
            <a:off x="457200" y="3108960"/>
            <a:ext cx="8229600" cy="731520"/>
          </a:xfrm>
          <a:prstGeom prst="rect">
            <a:avLst/>
          </a:prstGeom>
          <a:noFill/>
          <a:ln/>
        </p:spPr>
        <p:txBody>
          <a:bodyPr wrap="square" lIns="0" tIns="0" rIns="0" bIns="0" rtlCol="0" anchor="ctr"/>
          <a:lstStyle/>
          <a:p>
            <a:pPr indent="0" marL="0">
              <a:buNone/>
            </a:pPr>
            <a:r>
              <a:rPr lang="en-US" sz="3400" b="1" dirty="0">
                <a:solidFill>
                  <a:schemeClr val="bg1"/>
                </a:solidFill>
                <a:latin typeface="Manrope" pitchFamily="34" charset="0"/>
                <a:ea typeface="Manrope" pitchFamily="34" charset="-122"/>
                <a:cs typeface="Manrope" pitchFamily="34" charset="-120"/>
              </a:rPr>
              <a:t>Questions?</a:t>
            </a:r>
            <a:endParaRPr lang="en-US" sz="3400" dirty="0"/>
          </a:p>
        </p:txBody>
      </p:sp>
      <p:sp>
        <p:nvSpPr>
          <p:cNvPr id="5" name="Text 3"/>
          <p:cNvSpPr txBox="1"/>
          <p:nvPr/>
        </p:nvSpPr>
        <p:spPr>
          <a:xfrm>
            <a:off x="457200" y="3931920"/>
            <a:ext cx="8229600" cy="365760"/>
          </a:xfrm>
          <a:prstGeom prst="rect">
            <a:avLst/>
          </a:prstGeom>
          <a:noFill/>
          <a:ln/>
        </p:spPr>
        <p:txBody>
          <a:bodyPr wrap="square" lIns="0" tIns="0" rIns="0" bIns="0" rtlCol="0" anchor="ctr"/>
          <a:lstStyle/>
          <a:p>
            <a:pPr indent="0" marL="0">
              <a:buNone/>
            </a:pPr>
            <a:r>
              <a:rPr lang="en-US" sz="1300" dirty="0">
                <a:solidFill>
                  <a:schemeClr val="accent2"/>
                </a:solidFill>
              </a:rPr>
              <a:t>Thank you</a:t>
            </a:r>
            <a:endParaRPr lang="en-US" sz="1300" dirty="0"/>
          </a:p>
        </p:txBody>
      </p:sp>
    </p:spTree>
  </p:cSld>
  <p:clrMapOvr>
    <a:masterClrMapping/>
  </p:clrMapOvr>
</p:sld>
</file>

<file path=ppt/theme/theme1.xml><?xml version="1.0" encoding="utf-8"?>
<a:theme xmlns:a="http://schemas.openxmlformats.org/drawingml/2006/main" name="RIGVA Porcelain">
  <a:themeElements>
    <a:clrScheme name="RIGVA Porcelain">
      <a:dk1>
        <a:srgbClr val="211E1F"/>
      </a:dk1>
      <a:lt1>
        <a:srgbClr val="FFFFFF"/>
      </a:lt1>
      <a:dk2>
        <a:srgbClr val="3B2434"/>
      </a:dk2>
      <a:lt2>
        <a:srgbClr val="F6F1E8"/>
      </a:lt2>
      <a:accent1>
        <a:srgbClr val="3B2434"/>
      </a:accent1>
      <a:accent2>
        <a:srgbClr val="C98A3D"/>
      </a:accent2>
      <a:accent3>
        <a:srgbClr val="54745D"/>
      </a:accent3>
      <a:accent4>
        <a:srgbClr val="A94B46"/>
      </a:accent4>
      <a:accent5>
        <a:srgbClr val="625B5D"/>
      </a:accent5>
      <a:accent6>
        <a:srgbClr val="D9D0C7"/>
      </a:accent6>
      <a:hlink>
        <a:srgbClr val="3B2434"/>
      </a:hlink>
      <a:folHlink>
        <a:srgbClr val="625B5D"/>
      </a:folHlink>
    </a:clrScheme>
    <a:fontScheme name="RIGVA Porcelain">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RIGVA Construction Equipment Insurance</dc:title>
  <dc:subject>PptxGenJS Presentation</dc:subject>
  <dc:creator>RIGVA Project Team</dc:creator>
  <cp:lastModifiedBy>RIGVA Project Team</cp:lastModifiedBy>
  <cp:revision>1</cp:revision>
  <dcterms:created xsi:type="dcterms:W3CDTF">2026-10-11T20:56:16Z</dcterms:created>
  <dcterms:modified xsi:type="dcterms:W3CDTF">2026-10-11T20:56:16Z</dcterms:modified>
</cp:coreProperties>
</file>